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0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7" r:id="rId2"/>
    <p:sldId id="260" r:id="rId3"/>
    <p:sldId id="258" r:id="rId4"/>
    <p:sldId id="259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90" r:id="rId13"/>
    <p:sldId id="268" r:id="rId14"/>
    <p:sldId id="281" r:id="rId15"/>
    <p:sldId id="282" r:id="rId16"/>
    <p:sldId id="283" r:id="rId17"/>
    <p:sldId id="291" r:id="rId18"/>
    <p:sldId id="292" r:id="rId19"/>
    <p:sldId id="286" r:id="rId20"/>
    <p:sldId id="278" r:id="rId21"/>
    <p:sldId id="287" r:id="rId22"/>
    <p:sldId id="270" r:id="rId23"/>
    <p:sldId id="289" r:id="rId24"/>
    <p:sldId id="271" r:id="rId25"/>
    <p:sldId id="280" r:id="rId26"/>
    <p:sldId id="274" r:id="rId27"/>
    <p:sldId id="275" r:id="rId2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094F9A-EF63-40BA-B1FA-DBAAF30639AE}" v="6" dt="2024-04-01T16:36:11.58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8564" autoAdjust="0"/>
  </p:normalViewPr>
  <p:slideViewPr>
    <p:cSldViewPr>
      <p:cViewPr>
        <p:scale>
          <a:sx n="71" d="100"/>
          <a:sy n="71" d="100"/>
        </p:scale>
        <p:origin x="-456" y="-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EA48B6-CD06-4134-A61B-06D461C6B91E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113BE-A234-4654-8CD4-D94B04A92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398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4113BE-A234-4654-8CD4-D94B04A9288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557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4113BE-A234-4654-8CD4-D94B04A9288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489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5" dirty="0"/>
              <a:t>24-12-2023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5" dirty="0"/>
              <a:t>24-12-2023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5" dirty="0"/>
              <a:t>24-12-2023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5" dirty="0"/>
              <a:t>24-12-2023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5" dirty="0"/>
              <a:t>24-12-2023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" y="38100"/>
            <a:ext cx="3667124" cy="5048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06699" y="529843"/>
            <a:ext cx="6578600" cy="701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336357"/>
            <a:ext cx="10356850" cy="4487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529987" y="6451049"/>
            <a:ext cx="1242059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5" dirty="0"/>
              <a:t>24-12-2023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82401" y="6451049"/>
            <a:ext cx="2286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06699" y="529843"/>
            <a:ext cx="6578600" cy="3361176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9"/>
              </a:spcBef>
            </a:pPr>
            <a:endParaRPr sz="1800" dirty="0"/>
          </a:p>
          <a:p>
            <a:pPr algn="ctr">
              <a:spcBef>
                <a:spcPts val="545"/>
              </a:spcBef>
            </a:pPr>
            <a:r>
              <a:rPr lang="en-US" sz="2400" dirty="0">
                <a:solidFill>
                  <a:srgbClr val="FF0000"/>
                </a:solidFill>
              </a:rPr>
              <a:t>SmartWasteNet: A Deep Learning Framework to Transition from Take-Make-Waste to Rethink-Redesign-Reuse for Circular Economy under SDG </a:t>
            </a:r>
            <a:r>
              <a:rPr lang="en-US" sz="2400" dirty="0" smtClean="0">
                <a:solidFill>
                  <a:srgbClr val="FF0000"/>
                </a:solidFill>
              </a:rPr>
              <a:t>12</a:t>
            </a:r>
            <a:br>
              <a:rPr lang="en-US" sz="2400" dirty="0" smtClean="0">
                <a:solidFill>
                  <a:srgbClr val="FF0000"/>
                </a:solidFill>
              </a:rPr>
            </a:br>
            <a:r>
              <a:rPr lang="en-IN" sz="2400" dirty="0">
                <a:solidFill>
                  <a:srgbClr val="FF0000"/>
                </a:solidFill>
              </a:rPr>
              <a:t/>
            </a:r>
            <a:br>
              <a:rPr lang="en-IN" sz="2400" dirty="0">
                <a:solidFill>
                  <a:srgbClr val="FF0000"/>
                </a:solidFill>
              </a:rPr>
            </a:br>
            <a:r>
              <a:rPr lang="en-US" sz="2400" dirty="0" smtClean="0">
                <a:solidFill>
                  <a:srgbClr val="FF0000"/>
                </a:solidFill>
              </a:rPr>
              <a:t/>
            </a:r>
            <a:br>
              <a:rPr lang="en-US" sz="2400" dirty="0" smtClean="0">
                <a:solidFill>
                  <a:srgbClr val="FF0000"/>
                </a:solidFill>
              </a:rPr>
            </a:br>
            <a:r>
              <a:rPr lang="en-IN" sz="2400" dirty="0">
                <a:solidFill>
                  <a:srgbClr val="FF0000"/>
                </a:solidFill>
              </a:rPr>
              <a:t/>
            </a:r>
            <a:br>
              <a:rPr lang="en-IN" sz="2400" dirty="0">
                <a:solidFill>
                  <a:srgbClr val="FF0000"/>
                </a:solidFill>
              </a:rPr>
            </a:br>
            <a:endParaRPr sz="2400" dirty="0">
              <a:solidFill>
                <a:srgbClr val="FF0000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7951" y="2393220"/>
            <a:ext cx="10356850" cy="4247317"/>
          </a:xfrm>
        </p:spPr>
        <p:txBody>
          <a:bodyPr/>
          <a:lstStyle/>
          <a:p>
            <a:r>
              <a:rPr lang="en-IN" dirty="0" smtClean="0"/>
              <a:t>                                                                                    </a:t>
            </a:r>
          </a:p>
          <a:p>
            <a:r>
              <a:rPr lang="en-IN" b="1" dirty="0"/>
              <a:t> </a:t>
            </a:r>
            <a:r>
              <a:rPr lang="en-IN" b="1" dirty="0" smtClean="0"/>
              <a:t>                                                                                   Presented  By</a:t>
            </a:r>
          </a:p>
          <a:p>
            <a:endParaRPr lang="en-IN" dirty="0"/>
          </a:p>
          <a:p>
            <a:r>
              <a:rPr lang="en-IN" dirty="0" smtClean="0"/>
              <a:t>                                                    Shaik  </a:t>
            </a:r>
            <a:r>
              <a:rPr lang="en-IN" dirty="0"/>
              <a:t>Rasheed                          </a:t>
            </a:r>
            <a:r>
              <a:rPr lang="en-IN" dirty="0" smtClean="0"/>
              <a:t>  (</a:t>
            </a:r>
            <a:r>
              <a:rPr lang="en-IN" dirty="0"/>
              <a:t>22471A05J3)</a:t>
            </a:r>
          </a:p>
          <a:p>
            <a:r>
              <a:rPr lang="en-IN" dirty="0" smtClean="0"/>
              <a:t>                                                    Vattikuti </a:t>
            </a:r>
            <a:r>
              <a:rPr lang="en-IN" dirty="0"/>
              <a:t>Hemanth                    </a:t>
            </a:r>
            <a:r>
              <a:rPr lang="en-IN" dirty="0" smtClean="0"/>
              <a:t>  </a:t>
            </a:r>
            <a:r>
              <a:rPr lang="en-IN" dirty="0"/>
              <a:t>(22471A05K5)</a:t>
            </a:r>
          </a:p>
          <a:p>
            <a:r>
              <a:rPr lang="en-IN" dirty="0" smtClean="0"/>
              <a:t>                                                    Kumbha </a:t>
            </a:r>
            <a:r>
              <a:rPr lang="en-IN" dirty="0"/>
              <a:t>Chandra Sekar             (</a:t>
            </a:r>
            <a:r>
              <a:rPr lang="en-IN" dirty="0" smtClean="0"/>
              <a:t>22471A05I5)</a:t>
            </a:r>
          </a:p>
          <a:p>
            <a:endParaRPr lang="en-IN" dirty="0"/>
          </a:p>
          <a:p>
            <a:endParaRPr lang="en-IN" dirty="0" smtClean="0"/>
          </a:p>
          <a:p>
            <a:r>
              <a:rPr lang="en-IN" dirty="0" smtClean="0"/>
              <a:t>                                                                            Under </a:t>
            </a:r>
            <a:r>
              <a:rPr lang="en-IN" dirty="0"/>
              <a:t>the Guidance of  </a:t>
            </a:r>
          </a:p>
          <a:p>
            <a:r>
              <a:rPr lang="en-IN" dirty="0" smtClean="0"/>
              <a:t>                                                             </a:t>
            </a:r>
            <a:r>
              <a:rPr lang="en-IN" b="1" dirty="0" smtClean="0"/>
              <a:t>Dr</a:t>
            </a:r>
            <a:r>
              <a:rPr lang="en-IN" b="1" dirty="0"/>
              <a:t>. S. N. Tirumala Rao, M.Tech., Ph.D.</a:t>
            </a:r>
          </a:p>
          <a:p>
            <a:r>
              <a:rPr lang="en-IN" b="1" dirty="0" smtClean="0"/>
              <a:t>                                                                                  Professor </a:t>
            </a:r>
            <a:r>
              <a:rPr lang="en-IN" b="1" dirty="0"/>
              <a:t>&amp; HOD</a:t>
            </a:r>
          </a:p>
          <a:p>
            <a:r>
              <a:rPr lang="en-IN" dirty="0" smtClean="0"/>
              <a:t>                                                       Department </a:t>
            </a:r>
            <a:r>
              <a:rPr lang="en-IN" dirty="0"/>
              <a:t>of Computer Science and Engineering,</a:t>
            </a:r>
          </a:p>
          <a:p>
            <a:r>
              <a:rPr lang="en-IN" dirty="0" smtClean="0"/>
              <a:t>                                       Narasaraopeta </a:t>
            </a:r>
            <a:r>
              <a:rPr lang="en-IN" dirty="0"/>
              <a:t>Engineering College (Autonomous),  Narasaraopet- 522 601.</a:t>
            </a:r>
          </a:p>
          <a:p>
            <a:endParaRPr lang="en-IN" dirty="0"/>
          </a:p>
          <a:p>
            <a:endParaRPr lang="en-IN" sz="1200" dirty="0"/>
          </a:p>
          <a:p>
            <a:r>
              <a:rPr lang="en-IN" sz="1200" dirty="0" smtClean="0"/>
              <a:t>05|12|2025</a:t>
            </a:r>
            <a:endParaRPr lang="en-IN" sz="1200" dirty="0"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131344"/>
            <a:ext cx="3648074" cy="50532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50003" y="6451049"/>
            <a:ext cx="83439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.2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30658" y="6451049"/>
            <a:ext cx="107842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0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CB7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09080" y="6451049"/>
            <a:ext cx="124206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35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29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2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184001" y="6451049"/>
            <a:ext cx="1016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42"/>
    </mc:Choice>
    <mc:Fallback>
      <p:transition spd="slow" advTm="1542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59096" y="529843"/>
            <a:ext cx="3194304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pc="15" dirty="0" smtClean="0"/>
              <a:t>CONTENTS</a:t>
            </a:r>
            <a:endParaRPr spc="15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 smtClean="0"/>
              <a:t>05|12|2025</a:t>
            </a:r>
            <a:endParaRPr spc="5" dirty="0"/>
          </a:p>
        </p:txBody>
      </p:sp>
      <p:sp>
        <p:nvSpPr>
          <p:cNvPr id="5" name="object 5"/>
          <p:cNvSpPr txBox="1"/>
          <p:nvPr/>
        </p:nvSpPr>
        <p:spPr>
          <a:xfrm>
            <a:off x="4426328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3765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CB7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7574" y="1173924"/>
            <a:ext cx="5559426" cy="4530727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dirty="0">
                <a:latin typeface="Times New Roman"/>
                <a:cs typeface="Times New Roman"/>
              </a:rPr>
              <a:t>Abstract</a:t>
            </a:r>
          </a:p>
          <a:p>
            <a:pPr marL="527685" indent="-514984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dirty="0">
                <a:latin typeface="Times New Roman"/>
                <a:cs typeface="Times New Roman"/>
              </a:rPr>
              <a:t>Introduction</a:t>
            </a:r>
          </a:p>
          <a:p>
            <a:pPr marL="527685" indent="-514984">
              <a:spcBef>
                <a:spcPts val="320"/>
              </a:spcBef>
              <a:buFontTx/>
              <a:buAutoNum type="arabicPeriod"/>
              <a:tabLst>
                <a:tab pos="527050" algn="l"/>
                <a:tab pos="527685" algn="l"/>
              </a:tabLst>
            </a:pPr>
            <a:r>
              <a:rPr lang="en-IN" sz="1800" dirty="0">
                <a:latin typeface="Times New Roman"/>
                <a:cs typeface="Times New Roman"/>
              </a:rPr>
              <a:t>Problem</a:t>
            </a:r>
            <a:r>
              <a:rPr lang="en-IN" sz="1800" spc="-75" dirty="0">
                <a:latin typeface="Times New Roman"/>
                <a:cs typeface="Times New Roman"/>
              </a:rPr>
              <a:t> </a:t>
            </a:r>
            <a:r>
              <a:rPr lang="en-IN" sz="1800" spc="-10" dirty="0">
                <a:latin typeface="Times New Roman"/>
                <a:cs typeface="Times New Roman"/>
              </a:rPr>
              <a:t>Statement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lang="en-IN" sz="1800" spc="5" dirty="0">
                <a:latin typeface="Times New Roman"/>
                <a:cs typeface="Times New Roman"/>
              </a:rPr>
              <a:t>Literature</a:t>
            </a:r>
            <a:r>
              <a:rPr lang="en-IN" sz="1800" spc="-95" dirty="0">
                <a:latin typeface="Times New Roman"/>
                <a:cs typeface="Times New Roman"/>
              </a:rPr>
              <a:t> </a:t>
            </a:r>
            <a:r>
              <a:rPr lang="en-IN" sz="1800" spc="-15" dirty="0">
                <a:latin typeface="Times New Roman"/>
                <a:cs typeface="Times New Roman"/>
              </a:rPr>
              <a:t>Survey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lang="en-IN" sz="1800" spc="5" dirty="0">
                <a:latin typeface="Times New Roman"/>
                <a:cs typeface="Times New Roman"/>
              </a:rPr>
              <a:t>Research</a:t>
            </a:r>
            <a:r>
              <a:rPr lang="en-IN" sz="1800" spc="-110" dirty="0">
                <a:latin typeface="Times New Roman"/>
                <a:cs typeface="Times New Roman"/>
              </a:rPr>
              <a:t> </a:t>
            </a:r>
            <a:r>
              <a:rPr lang="en-IN" sz="1800" spc="-5" dirty="0">
                <a:latin typeface="Times New Roman"/>
                <a:cs typeface="Times New Roman"/>
              </a:rPr>
              <a:t>Gaps 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spc="-5" dirty="0">
                <a:latin typeface="Times New Roman"/>
                <a:cs typeface="Times New Roman"/>
              </a:rPr>
              <a:t>Objectives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spcBef>
                <a:spcPts val="320"/>
              </a:spcBef>
              <a:buFontTx/>
              <a:buAutoNum type="arabicPeriod"/>
              <a:tabLst>
                <a:tab pos="527050" algn="l"/>
                <a:tab pos="527685" algn="l"/>
              </a:tabLst>
            </a:pPr>
            <a:r>
              <a:rPr lang="en-IN" sz="1800" spc="-15" dirty="0">
                <a:latin typeface="Times New Roman"/>
                <a:cs typeface="Times New Roman"/>
              </a:rPr>
              <a:t>Methodology</a:t>
            </a:r>
            <a:r>
              <a:rPr lang="en-IN" sz="1800" spc="-20" dirty="0">
                <a:latin typeface="Times New Roman"/>
                <a:cs typeface="Times New Roman"/>
              </a:rPr>
              <a:t> 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lang="en-IN" sz="1800" spc="-10" dirty="0">
                <a:latin typeface="Times New Roman"/>
                <a:cs typeface="Times New Roman"/>
              </a:rPr>
              <a:t>Block</a:t>
            </a:r>
            <a:r>
              <a:rPr lang="en-IN" sz="1800" spc="-5" dirty="0">
                <a:latin typeface="Times New Roman"/>
                <a:cs typeface="Times New Roman"/>
              </a:rPr>
              <a:t> </a:t>
            </a:r>
            <a:r>
              <a:rPr lang="en-IN" sz="1800" spc="-20" dirty="0">
                <a:latin typeface="Times New Roman"/>
                <a:cs typeface="Times New Roman"/>
              </a:rPr>
              <a:t>Diagram</a:t>
            </a:r>
            <a:r>
              <a:rPr lang="en-IN" sz="1800" spc="90" dirty="0">
                <a:latin typeface="Times New Roman"/>
                <a:cs typeface="Times New Roman"/>
              </a:rPr>
              <a:t> </a:t>
            </a:r>
            <a:r>
              <a:rPr lang="en-IN" sz="1800" dirty="0">
                <a:latin typeface="Times New Roman"/>
                <a:cs typeface="Times New Roman"/>
              </a:rPr>
              <a:t>/</a:t>
            </a:r>
            <a:r>
              <a:rPr lang="en-IN" sz="1800" spc="20" dirty="0">
                <a:latin typeface="Times New Roman"/>
                <a:cs typeface="Times New Roman"/>
              </a:rPr>
              <a:t> </a:t>
            </a:r>
            <a:r>
              <a:rPr lang="en-IN" sz="1800" spc="-25" dirty="0">
                <a:latin typeface="Times New Roman"/>
                <a:cs typeface="Times New Roman"/>
              </a:rPr>
              <a:t>Flow</a:t>
            </a:r>
            <a:r>
              <a:rPr lang="en-IN" sz="1800" spc="40" dirty="0">
                <a:latin typeface="Times New Roman"/>
                <a:cs typeface="Times New Roman"/>
              </a:rPr>
              <a:t> </a:t>
            </a:r>
            <a:r>
              <a:rPr lang="en-IN" sz="1800" spc="-20" dirty="0">
                <a:latin typeface="Times New Roman"/>
                <a:cs typeface="Times New Roman"/>
              </a:rPr>
              <a:t>Diagram 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spc="-10" dirty="0">
                <a:latin typeface="Times New Roman"/>
                <a:cs typeface="Times New Roman"/>
              </a:rPr>
              <a:t>Implementation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15" dirty="0">
                <a:latin typeface="Times New Roman"/>
                <a:cs typeface="Times New Roman"/>
              </a:rPr>
              <a:t>e</a:t>
            </a:r>
            <a:r>
              <a:rPr sz="1800" spc="-30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u</a:t>
            </a:r>
            <a:r>
              <a:rPr sz="1800" spc="-55" dirty="0">
                <a:latin typeface="Times New Roman"/>
                <a:cs typeface="Times New Roman"/>
              </a:rPr>
              <a:t>l</a:t>
            </a:r>
            <a:r>
              <a:rPr sz="1800" spc="20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nd</a:t>
            </a:r>
            <a:r>
              <a:rPr sz="1800" spc="-15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n</a:t>
            </a:r>
            <a:r>
              <a:rPr sz="1800" spc="20" dirty="0">
                <a:latin typeface="Times New Roman"/>
                <a:cs typeface="Times New Roman"/>
              </a:rPr>
              <a:t>a</a:t>
            </a:r>
            <a:r>
              <a:rPr sz="1800" spc="-55" dirty="0">
                <a:latin typeface="Times New Roman"/>
                <a:cs typeface="Times New Roman"/>
              </a:rPr>
              <a:t>l</a:t>
            </a:r>
            <a:r>
              <a:rPr sz="1800" dirty="0">
                <a:latin typeface="Times New Roman"/>
                <a:cs typeface="Times New Roman"/>
              </a:rPr>
              <a:t>y</a:t>
            </a:r>
            <a:r>
              <a:rPr sz="1800" spc="-30" dirty="0">
                <a:latin typeface="Times New Roman"/>
                <a:cs typeface="Times New Roman"/>
              </a:rPr>
              <a:t>s</a:t>
            </a:r>
            <a:r>
              <a:rPr sz="1800" spc="-55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s</a:t>
            </a:r>
          </a:p>
          <a:p>
            <a:pPr marL="527685" indent="-514984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spc="-15" dirty="0" smtClean="0">
                <a:latin typeface="Times New Roman"/>
                <a:cs typeface="Times New Roman"/>
              </a:rPr>
              <a:t>Conclusion</a:t>
            </a:r>
            <a:r>
              <a:rPr lang="en-IN" sz="1800" spc="-15" dirty="0" smtClean="0">
                <a:latin typeface="Times New Roman"/>
                <a:cs typeface="Times New Roman"/>
              </a:rPr>
              <a:t> </a:t>
            </a:r>
            <a:endParaRPr lang="en-IN" spc="65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lang="en-IN" spc="-5" dirty="0" smtClean="0">
                <a:latin typeface="Times New Roman"/>
                <a:cs typeface="Times New Roman"/>
              </a:rPr>
              <a:t>F</a:t>
            </a:r>
            <a:r>
              <a:rPr sz="1800" spc="-5" dirty="0" err="1" smtClean="0">
                <a:latin typeface="Times New Roman"/>
                <a:cs typeface="Times New Roman"/>
              </a:rPr>
              <a:t>uture</a:t>
            </a:r>
            <a:r>
              <a:rPr sz="1800" spc="15" dirty="0" smtClean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Scope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spc="10" dirty="0" smtClean="0">
                <a:latin typeface="Times New Roman"/>
                <a:cs typeface="Times New Roman"/>
              </a:rPr>
              <a:t>References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1800" spc="-10" dirty="0">
                <a:latin typeface="Times New Roman"/>
                <a:cs typeface="Times New Roman"/>
              </a:rPr>
              <a:t>Acknowledgements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"/>
    </mc:Choice>
    <mc:Fallback>
      <p:transition spd="slow" advTm="55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0590" y="529843"/>
            <a:ext cx="309689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45" dirty="0"/>
              <a:t>A</a:t>
            </a:r>
            <a:r>
              <a:rPr spc="60" dirty="0"/>
              <a:t>B</a:t>
            </a:r>
            <a:r>
              <a:rPr spc="20" dirty="0"/>
              <a:t>S</a:t>
            </a:r>
            <a:r>
              <a:rPr spc="-10" dirty="0"/>
              <a:t>T</a:t>
            </a:r>
            <a:r>
              <a:rPr spc="45" dirty="0"/>
              <a:t>RA</a:t>
            </a:r>
            <a:r>
              <a:rPr spc="-25" dirty="0"/>
              <a:t>C</a:t>
            </a:r>
            <a:r>
              <a:rPr spc="20" dirty="0"/>
              <a:t>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 smtClean="0"/>
              <a:t>05|12|2025</a:t>
            </a:r>
            <a:endParaRPr spc="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6529987" y="6451049"/>
            <a:ext cx="124205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35" dirty="0"/>
              <a:t>Department</a:t>
            </a:r>
            <a:r>
              <a:rPr lang="en-IN" spc="295" dirty="0"/>
              <a:t> </a:t>
            </a:r>
            <a:r>
              <a:rPr lang="en-IN" dirty="0"/>
              <a:t>of</a:t>
            </a:r>
            <a:r>
              <a:rPr lang="en-IN" spc="25" dirty="0"/>
              <a:t> </a:t>
            </a:r>
            <a:r>
              <a:rPr lang="en-IN" spc="5" dirty="0"/>
              <a:t>CSE</a:t>
            </a:r>
          </a:p>
          <a:p>
            <a:pPr marL="12700">
              <a:lnSpc>
                <a:spcPts val="1410"/>
              </a:lnSpc>
            </a:pPr>
            <a:endParaRPr spc="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450022"/>
            <a:ext cx="10320655" cy="415242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ct val="90200"/>
              </a:lnSpc>
              <a:spcBef>
                <a:spcPts val="430"/>
              </a:spcBef>
            </a:pPr>
            <a:endParaRPr sz="2600" dirty="0">
              <a:latin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621D70BB-5239-88AF-01A6-8B000EAE3E37}"/>
              </a:ext>
            </a:extLst>
          </p:cNvPr>
          <p:cNvSpPr txBox="1"/>
          <p:nvPr/>
        </p:nvSpPr>
        <p:spPr>
          <a:xfrm>
            <a:off x="762000" y="1295401"/>
            <a:ext cx="102508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project introduces a deep learning framework aligned with circular economy principles — Rethink, Redesign, Reuse — to support SDG 12 by addressing the rise of municipal solid waste in Indian cities. A dataset compiled from 59 cities was analyzed using autoencoder-based clustering and MLP-based classification to recommend CE actions. Among the five models trained, the Dropout-enhanced MLP achieved the highest accuracy of </a:t>
            </a:r>
            <a:r>
              <a:rPr lang="en-US" sz="2400" b="1" dirty="0"/>
              <a:t>97.86%</a:t>
            </a:r>
            <a:r>
              <a:rPr lang="en-US" sz="2400" dirty="0"/>
              <a:t>, while SHAP explainability identified SDG 12 score and recycling efficiency as the most influential factors. The framework is designed to be scalable and interpretable to help policymakers adopt sustainable decision-making. 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6800" y="6392598"/>
            <a:ext cx="1497205" cy="281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25" dirty="0" smtClean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lang="en-IN" spc="85" dirty="0" smtClean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pc="5" dirty="0">
                <a:solidFill>
                  <a:srgbClr val="888888"/>
                </a:solidFill>
                <a:latin typeface="Times New Roman"/>
                <a:cs typeface="Times New Roman"/>
              </a:rPr>
              <a:t>NoCB7</a:t>
            </a:r>
            <a:endParaRPr lang="en-IN" dirty="0">
              <a:latin typeface="Times New Roman"/>
              <a:cs typeface="Times New Roman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0" y="6422511"/>
            <a:ext cx="1407437" cy="281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No.2</a:t>
            </a:r>
            <a:endParaRPr lang="en-IN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2"/>
    </mc:Choice>
    <mc:Fallback>
      <p:transition spd="slow" advTm="162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5834" y="529843"/>
            <a:ext cx="452691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 smtClean="0"/>
              <a:t>05|12|2025</a:t>
            </a:r>
            <a:endParaRPr spc="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060120" y="6432472"/>
            <a:ext cx="124205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35" dirty="0"/>
              <a:t>Department</a:t>
            </a:r>
            <a:r>
              <a:rPr lang="en-IN" spc="295" dirty="0"/>
              <a:t> </a:t>
            </a:r>
            <a:r>
              <a:rPr lang="en-IN" dirty="0"/>
              <a:t>of</a:t>
            </a:r>
            <a:r>
              <a:rPr lang="en-IN" spc="25" dirty="0"/>
              <a:t> </a:t>
            </a:r>
            <a:r>
              <a:rPr lang="en-IN" spc="5" dirty="0"/>
              <a:t>CSE</a:t>
            </a:r>
          </a:p>
          <a:p>
            <a:pPr marL="12700">
              <a:lnSpc>
                <a:spcPts val="1410"/>
              </a:lnSpc>
            </a:pPr>
            <a:endParaRPr spc="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013078" y="1638766"/>
            <a:ext cx="10512425" cy="500393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Rapid </a:t>
            </a:r>
            <a:r>
              <a:rPr lang="en-US" b="1" dirty="0"/>
              <a:t>urbanization</a:t>
            </a:r>
            <a:r>
              <a:rPr lang="en-US" dirty="0"/>
              <a:t> in India has led to a </a:t>
            </a:r>
            <a:r>
              <a:rPr lang="en-US" b="1" dirty="0"/>
              <a:t>sharp rise in Municipal Solid Waste (MSW)</a:t>
            </a:r>
            <a:r>
              <a:rPr lang="en-US" dirty="0"/>
              <a:t> generation.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Traditional </a:t>
            </a:r>
            <a:r>
              <a:rPr lang="en-US" b="1" dirty="0"/>
              <a:t>“Take–Make–Waste”</a:t>
            </a:r>
            <a:r>
              <a:rPr lang="en-US" dirty="0"/>
              <a:t> systems are unsustainable — they cause pollution, land degradation, and health risks.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There is a need to transition toward a </a:t>
            </a:r>
            <a:r>
              <a:rPr lang="en-US" b="1" dirty="0"/>
              <a:t>Circular Economy (CE)</a:t>
            </a:r>
            <a:r>
              <a:rPr lang="en-US" dirty="0"/>
              <a:t> model that promotes</a:t>
            </a:r>
          </a:p>
          <a:p>
            <a:r>
              <a:rPr lang="en-US" dirty="0" smtClean="0"/>
              <a:t>    ♻️ </a:t>
            </a:r>
            <a:r>
              <a:rPr lang="en-US" b="1" dirty="0"/>
              <a:t>Rethink</a:t>
            </a:r>
            <a:r>
              <a:rPr lang="en-US" dirty="0"/>
              <a:t> — how resources are used,</a:t>
            </a:r>
          </a:p>
          <a:p>
            <a:r>
              <a:rPr lang="en-US" dirty="0" smtClean="0"/>
              <a:t>   🏗</a:t>
            </a:r>
            <a:r>
              <a:rPr lang="en-US" dirty="0"/>
              <a:t>️ </a:t>
            </a:r>
            <a:r>
              <a:rPr lang="en-US" dirty="0" smtClean="0"/>
              <a:t>  </a:t>
            </a:r>
            <a:r>
              <a:rPr lang="en-US" b="1" dirty="0" smtClean="0"/>
              <a:t>Redesign</a:t>
            </a:r>
            <a:r>
              <a:rPr lang="en-US" dirty="0" smtClean="0"/>
              <a:t> </a:t>
            </a:r>
            <a:r>
              <a:rPr lang="en-US" dirty="0"/>
              <a:t>— processes to reduce waste, and</a:t>
            </a:r>
          </a:p>
          <a:p>
            <a:r>
              <a:rPr lang="en-US" dirty="0" smtClean="0"/>
              <a:t>    🔁    </a:t>
            </a:r>
            <a:r>
              <a:rPr lang="en-US" b="1" dirty="0"/>
              <a:t>Reuse</a:t>
            </a:r>
            <a:r>
              <a:rPr lang="en-US" dirty="0"/>
              <a:t> — materials and products for longer life cycles.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United Nations Sustainable Development Goal 12 (SDG 12)</a:t>
            </a:r>
            <a:r>
              <a:rPr lang="en-US" dirty="0"/>
              <a:t> emphasizes </a:t>
            </a:r>
            <a:r>
              <a:rPr lang="en-US" i="1" dirty="0"/>
              <a:t>Responsible Consumption and Production</a:t>
            </a:r>
            <a:r>
              <a:rPr lang="en-US" dirty="0"/>
              <a:t>, aligning with CE principles.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Despite progress in manufacturing and recycling sectors, </a:t>
            </a:r>
            <a:r>
              <a:rPr lang="en-US" b="1" dirty="0"/>
              <a:t>AI-driven, data-based circular economy solutions for cities remain scarce</a:t>
            </a:r>
            <a:r>
              <a:rPr lang="en-US" dirty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project </a:t>
            </a:r>
            <a:r>
              <a:rPr lang="en-US" b="1" dirty="0" err="1"/>
              <a:t>SmartWasteNet</a:t>
            </a:r>
            <a:r>
              <a:rPr lang="en-US" dirty="0"/>
              <a:t> proposes a </a:t>
            </a:r>
            <a:r>
              <a:rPr lang="en-US" b="1" dirty="0"/>
              <a:t>deep learning framework</a:t>
            </a:r>
            <a:r>
              <a:rPr lang="en-US" dirty="0"/>
              <a:t> to: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Analyze sustainability data from </a:t>
            </a:r>
            <a:r>
              <a:rPr lang="en-US" b="1" dirty="0"/>
              <a:t>59 Indian cities</a:t>
            </a:r>
            <a:r>
              <a:rPr lang="en-US" dirty="0"/>
              <a:t>,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Predict future waste generation,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Cluster cities based on CE readiness, and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Recommend optimal </a:t>
            </a:r>
            <a:r>
              <a:rPr lang="en-US" b="1" dirty="0"/>
              <a:t>Rethink–Redesign–Reuse</a:t>
            </a:r>
            <a:r>
              <a:rPr lang="en-US" dirty="0"/>
              <a:t> strategies.</a:t>
            </a:r>
          </a:p>
          <a:p>
            <a:pPr marL="12065" algn="just">
              <a:lnSpc>
                <a:spcPct val="100000"/>
              </a:lnSpc>
              <a:spcBef>
                <a:spcPts val="780"/>
              </a:spcBef>
              <a:tabLst>
                <a:tab pos="241935" algn="l"/>
                <a:tab pos="2888615" algn="l"/>
              </a:tabLst>
            </a:pP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67000" y="6400800"/>
            <a:ext cx="1407437" cy="281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No.2</a:t>
            </a:r>
            <a:endParaRPr lang="en-IN" dirty="0">
              <a:latin typeface="Times New Roman"/>
              <a:cs typeface="Times New Roma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62935" y="6400799"/>
            <a:ext cx="1555554" cy="281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lang="en-IN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 CB7</a:t>
            </a:r>
            <a:endParaRPr lang="en-IN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220"/>
    </mc:Choice>
    <mc:Fallback>
      <p:transition spd="slow" advTm="1922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2445" y="529843"/>
            <a:ext cx="644207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0" dirty="0"/>
              <a:t>PROBLEM</a:t>
            </a:r>
            <a:r>
              <a:rPr spc="-240" dirty="0"/>
              <a:t> </a:t>
            </a:r>
            <a:r>
              <a:rPr spc="-55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 smtClean="0"/>
              <a:t>05-12</a:t>
            </a:r>
            <a:r>
              <a:rPr spc="5" dirty="0" smtClean="0"/>
              <a:t>-202</a:t>
            </a:r>
            <a:r>
              <a:rPr lang="en-IN" spc="5" dirty="0"/>
              <a:t>5</a:t>
            </a:r>
            <a:endParaRPr spc="5" dirty="0"/>
          </a:p>
        </p:txBody>
      </p:sp>
      <p:sp>
        <p:nvSpPr>
          <p:cNvPr id="5" name="object 5"/>
          <p:cNvSpPr txBox="1"/>
          <p:nvPr/>
        </p:nvSpPr>
        <p:spPr>
          <a:xfrm>
            <a:off x="4426330" y="6451049"/>
            <a:ext cx="9076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3765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CB7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239000" y="6451049"/>
            <a:ext cx="1242059" cy="194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F3F7C4C-E9CF-C66E-B7DA-DBCCAAD90C3A}"/>
              </a:ext>
            </a:extLst>
          </p:cNvPr>
          <p:cNvSpPr txBox="1"/>
          <p:nvPr/>
        </p:nvSpPr>
        <p:spPr>
          <a:xfrm>
            <a:off x="914400" y="1600200"/>
            <a:ext cx="99088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 smtClean="0"/>
              <a:t>Rapid </a:t>
            </a:r>
            <a:r>
              <a:rPr lang="en-US" sz="2400" dirty="0"/>
              <a:t>urbanization and population growth in Indian cities have caused a sharp rise in municipal solid waste, resulting in serious environmental degradation and public-health risks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dirty="0" smtClean="0"/>
              <a:t>2. Traditional </a:t>
            </a:r>
            <a:r>
              <a:rPr lang="en-US" sz="2400" dirty="0"/>
              <a:t>Take-Make-Waste waste-management practices are inadequate </a:t>
            </a:r>
            <a:r>
              <a:rPr lang="en-US" sz="2400" dirty="0" smtClean="0"/>
              <a:t>   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and </a:t>
            </a:r>
            <a:r>
              <a:rPr lang="en-US" sz="2400" dirty="0"/>
              <a:t>lack intelligent AI-based decision-support models that can analyze </a:t>
            </a:r>
            <a:r>
              <a:rPr lang="en-US" sz="2400" dirty="0" smtClean="0"/>
              <a:t> 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sustainability </a:t>
            </a:r>
            <a:r>
              <a:rPr lang="en-US" sz="2400" dirty="0"/>
              <a:t>indicators and recommend suitable circular economy </a:t>
            </a:r>
            <a:r>
              <a:rPr lang="en-US" sz="2400" dirty="0" smtClean="0"/>
              <a:t> 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strategies </a:t>
            </a:r>
            <a:r>
              <a:rPr lang="en-US" sz="2400" dirty="0"/>
              <a:t>(Rethink, Redesign, Reuse) for each city.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0026" y="283463"/>
            <a:ext cx="5518785" cy="123238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-30" dirty="0"/>
              <a:t>LITERATURE</a:t>
            </a:r>
            <a:r>
              <a:rPr sz="3950" spc="250" dirty="0"/>
              <a:t> </a:t>
            </a:r>
            <a:r>
              <a:rPr sz="3950" spc="-30" dirty="0" smtClean="0"/>
              <a:t>SURVEY</a:t>
            </a:r>
            <a:r>
              <a:rPr lang="en-IN" sz="3950" spc="-30" dirty="0" smtClean="0"/>
              <a:t/>
            </a:r>
            <a:br>
              <a:rPr lang="en-IN" sz="3950" spc="-30" dirty="0" smtClean="0"/>
            </a:br>
            <a:endParaRPr sz="395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graphicFrame>
        <p:nvGraphicFramePr>
          <p:cNvPr id="12" name="Table 3">
            <a:extLst>
              <a:ext uri="{FF2B5EF4-FFF2-40B4-BE49-F238E27FC236}">
                <a16:creationId xmlns="" xmlns:a16="http://schemas.microsoft.com/office/drawing/2014/main" id="{0B2DBF82-339B-B352-3719-DA8B4BA8CA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488728"/>
              </p:ext>
            </p:extLst>
          </p:nvPr>
        </p:nvGraphicFramePr>
        <p:xfrm>
          <a:off x="381000" y="990600"/>
          <a:ext cx="10820400" cy="5656293"/>
        </p:xfrm>
        <a:graphic>
          <a:graphicData uri="http://schemas.openxmlformats.org/drawingml/2006/table">
            <a:tbl>
              <a:tblPr firstRow="1" bandRow="1"/>
              <a:tblGrid>
                <a:gridCol w="608080">
                  <a:extLst>
                    <a:ext uri="{9D8B030D-6E8A-4147-A177-3AD203B41FA5}">
                      <a16:colId xmlns="" xmlns:a16="http://schemas.microsoft.com/office/drawing/2014/main" val="166576671"/>
                    </a:ext>
                  </a:extLst>
                </a:gridCol>
                <a:gridCol w="1943580">
                  <a:extLst>
                    <a:ext uri="{9D8B030D-6E8A-4147-A177-3AD203B41FA5}">
                      <a16:colId xmlns="" xmlns:a16="http://schemas.microsoft.com/office/drawing/2014/main" val="946789180"/>
                    </a:ext>
                  </a:extLst>
                </a:gridCol>
                <a:gridCol w="1619650">
                  <a:extLst>
                    <a:ext uri="{9D8B030D-6E8A-4147-A177-3AD203B41FA5}">
                      <a16:colId xmlns="" xmlns:a16="http://schemas.microsoft.com/office/drawing/2014/main" val="3483638722"/>
                    </a:ext>
                  </a:extLst>
                </a:gridCol>
                <a:gridCol w="1670798">
                  <a:extLst>
                    <a:ext uri="{9D8B030D-6E8A-4147-A177-3AD203B41FA5}">
                      <a16:colId xmlns="" xmlns:a16="http://schemas.microsoft.com/office/drawing/2014/main" val="1190061112"/>
                    </a:ext>
                  </a:extLst>
                </a:gridCol>
                <a:gridCol w="1886750">
                  <a:extLst>
                    <a:ext uri="{9D8B030D-6E8A-4147-A177-3AD203B41FA5}">
                      <a16:colId xmlns="" xmlns:a16="http://schemas.microsoft.com/office/drawing/2014/main" val="3469305604"/>
                    </a:ext>
                  </a:extLst>
                </a:gridCol>
                <a:gridCol w="1545771">
                  <a:extLst>
                    <a:ext uri="{9D8B030D-6E8A-4147-A177-3AD203B41FA5}">
                      <a16:colId xmlns="" xmlns:a16="http://schemas.microsoft.com/office/drawing/2014/main" val="3853106642"/>
                    </a:ext>
                  </a:extLst>
                </a:gridCol>
                <a:gridCol w="1545771">
                  <a:extLst>
                    <a:ext uri="{9D8B030D-6E8A-4147-A177-3AD203B41FA5}">
                      <a16:colId xmlns="" xmlns:a16="http://schemas.microsoft.com/office/drawing/2014/main" val="1601472594"/>
                    </a:ext>
                  </a:extLst>
                </a:gridCol>
              </a:tblGrid>
              <a:tr h="426720"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Name &amp; Year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Adapted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 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marL="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 b="1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37051210"/>
                  </a:ext>
                </a:extLst>
              </a:tr>
              <a:tr h="1603163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dirty="0" smtClean="0">
                        <a:latin typeface="+mj-lt"/>
                        <a:cs typeface="Times New Roman" pitchFamily="18" charset="0"/>
                      </a:endParaRPr>
                    </a:p>
                    <a:p>
                      <a:pPr algn="l" fontAlgn="b"/>
                      <a:r>
                        <a:rPr lang="en-US" sz="1100" dirty="0" err="1" smtClean="0">
                          <a:latin typeface="+mj-lt"/>
                          <a:cs typeface="Times New Roman" pitchFamily="18" charset="0"/>
                        </a:rPr>
                        <a:t>CircularNet</a:t>
                      </a:r>
                      <a:r>
                        <a:rPr lang="en-US" sz="1100" dirty="0" smtClean="0">
                          <a:latin typeface="+mj-lt"/>
                          <a:cs typeface="Times New Roman" pitchFamily="18" charset="0"/>
                        </a:rPr>
                        <a:t>: A Deep Learning Framework for Lifecycle Intelligence under SDG 12</a:t>
                      </a:r>
                    </a:p>
                    <a:p>
                      <a:pPr algn="l" fontAlgn="b"/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l" fontAlgn="b"/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l" fontAlgn="b"/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l" fontAlgn="b"/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l" fontAlgn="b"/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dirty="0" smtClean="0"/>
                        <a:t>   R. </a:t>
                      </a:r>
                      <a:r>
                        <a:rPr lang="en-IN" sz="1100" dirty="0" err="1" smtClean="0"/>
                        <a:t>Prakash</a:t>
                      </a:r>
                      <a:r>
                        <a:rPr lang="en-IN" sz="1100" dirty="0" smtClean="0"/>
                        <a:t>, V. Jain</a:t>
                      </a:r>
                    </a:p>
                    <a:p>
                      <a:pPr algn="l" fontAlgn="b"/>
                      <a:endParaRPr lang="en-I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l" fontAlgn="b"/>
                      <a:endParaRPr lang="en-I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l" fontAlgn="b"/>
                      <a:endParaRPr lang="en-I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l" fontAlgn="b"/>
                      <a:endParaRPr lang="en-I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/>
                      </a:r>
                      <a:b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/>
                      </a:r>
                      <a:b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/>
                      </a:r>
                      <a:b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1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 smtClean="0"/>
                        <a:t>IEEE Trans. Computational Social Systems</a:t>
                      </a:r>
                      <a:r>
                        <a:rPr lang="en-IN" sz="1100" baseline="0" dirty="0" smtClean="0"/>
                        <a:t> &amp;</a:t>
                      </a:r>
                      <a:r>
                        <a:rPr lang="en-IN" sz="1100" dirty="0" smtClean="0"/>
                        <a:t> 2024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 smtClean="0"/>
                        <a:t>Deep Neural Networks, Autoencoder-based Lifecycle Mapping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 smtClean="0"/>
                        <a:t>Introduced lifecycle intelligence models for resource reuse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 smtClean="0"/>
                        <a:t>Lacked explainability and integration with national-level SDG indicators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52925414"/>
                  </a:ext>
                </a:extLst>
              </a:tr>
              <a:tr h="725961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 smtClean="0"/>
                        <a:t>Forecasting Municipal Solid Waste Generation Using LSTM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IN" sz="1100" dirty="0" smtClean="0"/>
                        <a:t>A. Rahman, N. Gupta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i="0" dirty="0"/>
                        <a:t>Environmental Modelling &amp; </a:t>
                      </a:r>
                      <a:r>
                        <a:rPr lang="en-IN" sz="1100" i="0" dirty="0" smtClean="0"/>
                        <a:t>Software &amp; 2023</a:t>
                      </a:r>
                      <a:endParaRPr lang="en-IN" sz="1100" i="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 smtClean="0"/>
                        <a:t>Long Short-Term Memory (LSTM), Time Series Forecasting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 smtClean="0"/>
                        <a:t>Achieved high accuracy in waste forecasting across cities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 smtClean="0"/>
                        <a:t>Focused on forecasting only, not on CE recommendations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88357853"/>
                  </a:ext>
                </a:extLst>
              </a:tr>
              <a:tr h="651355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 smtClean="0"/>
                        <a:t>AI-Driven Waste Management and Circular Economy Transition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de-DE" sz="1100" dirty="0" smtClean="0"/>
                        <a:t>M. Singh, S. Reddy, P. Das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IN" sz="1100" dirty="0" smtClean="0"/>
                        <a:t>IEEE Access &amp; 2024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 smtClean="0"/>
                        <a:t>Machine Learning (MLP, SVM), Sustainability Indexing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 smtClean="0"/>
                        <a:t>AI models effectively optimized waste recycling strategies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 smtClean="0"/>
                        <a:t>Did not integrate SHAP explainability or CE action labels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436231"/>
                  </a:ext>
                </a:extLst>
              </a:tr>
              <a:tr h="794653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/>
                        <a:t>Explainable AI for Sustainable Development: A SHAP-Based Case Study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 smtClean="0"/>
                        <a:t>A. Bose, S. Bhattacharya</a:t>
                      </a:r>
                      <a:r>
                        <a:rPr lang="fi-FI" sz="1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IN" sz="1100" dirty="0" smtClean="0"/>
                        <a:t>Sustainable Computing: Informatics &amp; Systems &amp; 2024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 smtClean="0"/>
                        <a:t>SHAP Explainability, Deep Learning Interpretation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 smtClean="0"/>
                        <a:t>Highlighted interpretability in AI for sustainability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 smtClean="0"/>
                        <a:t>Limited to small-scale datasets, not waste management applications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255402542"/>
                  </a:ext>
                </a:extLst>
              </a:tr>
              <a:tr h="1186415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Green Transition Models in Circular Economy</a:t>
                      </a:r>
                    </a:p>
                    <a:p>
                      <a:endParaRPr lang="en-US" sz="1100" dirty="0" smtClean="0"/>
                    </a:p>
                    <a:p>
                      <a:endParaRPr lang="en-US" sz="1100" dirty="0" smtClean="0"/>
                    </a:p>
                    <a:p>
                      <a:endParaRPr lang="en-IN" sz="1100" dirty="0"/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IN" sz="1100" dirty="0" smtClean="0"/>
                        <a:t>R. </a:t>
                      </a:r>
                      <a:r>
                        <a:rPr lang="en-IN" sz="1100" dirty="0" err="1" smtClean="0"/>
                        <a:t>Bansal</a:t>
                      </a:r>
                      <a:r>
                        <a:rPr lang="en-IN" sz="1100" dirty="0" smtClean="0"/>
                        <a:t>, A. </a:t>
                      </a:r>
                      <a:r>
                        <a:rPr lang="en-IN" sz="1100" dirty="0" err="1" smtClean="0"/>
                        <a:t>Kaur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IN" sz="1100" dirty="0" smtClean="0"/>
                        <a:t>Journal of Cleaner Production &amp; 2024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 smtClean="0"/>
                        <a:t>Data Analytics, Circular Economy Index, Regression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 smtClean="0"/>
                        <a:t>Proposed indicators for measuring CE transitions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100" dirty="0" smtClean="0"/>
                        <a:t>No predictive AI model for waste trends or actions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4751" y="529843"/>
            <a:ext cx="611759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5" dirty="0"/>
              <a:t>L</a:t>
            </a:r>
            <a:r>
              <a:rPr spc="10" dirty="0"/>
              <a:t>I</a:t>
            </a:r>
            <a:r>
              <a:rPr spc="-15" dirty="0"/>
              <a:t>TE</a:t>
            </a:r>
            <a:r>
              <a:rPr spc="45" dirty="0"/>
              <a:t>R</a:t>
            </a:r>
            <a:r>
              <a:rPr spc="-254" dirty="0"/>
              <a:t>A</a:t>
            </a:r>
            <a:r>
              <a:rPr spc="-15" dirty="0"/>
              <a:t>T</a:t>
            </a:r>
            <a:r>
              <a:rPr spc="45" dirty="0"/>
              <a:t>UR</a:t>
            </a:r>
            <a:r>
              <a:rPr spc="20" dirty="0"/>
              <a:t>E</a:t>
            </a:r>
            <a:r>
              <a:rPr spc="-235" dirty="0"/>
              <a:t> </a:t>
            </a:r>
            <a:r>
              <a:rPr spc="15" dirty="0"/>
              <a:t>S</a:t>
            </a:r>
            <a:r>
              <a:rPr spc="55" dirty="0"/>
              <a:t>U</a:t>
            </a:r>
            <a:r>
              <a:rPr spc="-100" dirty="0"/>
              <a:t>R</a:t>
            </a:r>
            <a:r>
              <a:rPr spc="45" dirty="0"/>
              <a:t>V</a:t>
            </a:r>
            <a:r>
              <a:rPr spc="-15" dirty="0"/>
              <a:t>E</a:t>
            </a:r>
            <a:r>
              <a:rPr spc="20" dirty="0"/>
              <a:t>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 smtClean="0"/>
              <a:t>05-12-2025</a:t>
            </a:r>
            <a:endParaRPr spc="5" dirty="0"/>
          </a:p>
        </p:txBody>
      </p:sp>
      <p:sp>
        <p:nvSpPr>
          <p:cNvPr id="5" name="object 5"/>
          <p:cNvSpPr txBox="1"/>
          <p:nvPr/>
        </p:nvSpPr>
        <p:spPr>
          <a:xfrm>
            <a:off x="4114800" y="6451049"/>
            <a:ext cx="106972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84520" y="6451049"/>
            <a:ext cx="96186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CB7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3587" y="1666017"/>
            <a:ext cx="10664825" cy="468718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1935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374996"/>
              </p:ext>
            </p:extLst>
          </p:nvPr>
        </p:nvGraphicFramePr>
        <p:xfrm>
          <a:off x="1219200" y="1447799"/>
          <a:ext cx="9677400" cy="472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599"/>
                <a:gridCol w="2398487"/>
                <a:gridCol w="1161143"/>
                <a:gridCol w="1161143"/>
                <a:gridCol w="1245309"/>
                <a:gridCol w="1295400"/>
                <a:gridCol w="1806319"/>
              </a:tblGrid>
              <a:tr h="701040"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Deep Learning for Resource Optimization in Circular Supply Chains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M. Thomas, J. Li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Expert Systems with Applications &amp; 2024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CNN, ANN, Optimization Algorithms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Improved sustainability through AI-based resource flow analysis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Focused on industrial supply chains, not municipal waste</a:t>
                      </a:r>
                      <a:endParaRPr lang="en-IN" sz="1100" dirty="0"/>
                    </a:p>
                  </a:txBody>
                  <a:tcPr/>
                </a:tc>
              </a:tr>
              <a:tr h="246842"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Autoencoder-Based Feature Extraction for Environmental Data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100" dirty="0" smtClean="0"/>
                        <a:t>R. K. Jha, A. Kumar</a:t>
                      </a:r>
                      <a:endParaRPr lang="en-IN" sz="1100" dirty="0" smtClean="0"/>
                    </a:p>
                    <a:p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Applied Soft Computing &amp; 2024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Autoencoders, Dimensionality Reduction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/>
                        <a:t>Enhanced feature learning from sustainability datasets</a:t>
                      </a:r>
                      <a:endParaRPr lang="en-IN" sz="1100" dirty="0" smtClean="0"/>
                    </a:p>
                    <a:p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/>
                        <a:t>Did not integrate clustering or classification for CE categorization</a:t>
                      </a:r>
                      <a:endParaRPr lang="en-IN" sz="1100" dirty="0" smtClean="0"/>
                    </a:p>
                    <a:p>
                      <a:endParaRPr lang="en-IN" sz="1100" dirty="0"/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Waste Classification Using Deep CNNs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H. </a:t>
                      </a:r>
                      <a:r>
                        <a:rPr lang="en-IN" sz="1100" dirty="0" err="1" smtClean="0"/>
                        <a:t>Kaur</a:t>
                      </a:r>
                      <a:r>
                        <a:rPr lang="en-IN" sz="1100" dirty="0" smtClean="0"/>
                        <a:t>, R. </a:t>
                      </a:r>
                      <a:r>
                        <a:rPr lang="en-IN" sz="1100" dirty="0" err="1" smtClean="0"/>
                        <a:t>Maheshwari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Journal of Environmental Management  &amp;2023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CNN, Image Segmentation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Improved accuracy in classifying waste materials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Limited to image data, not city-level sustainability indicators</a:t>
                      </a:r>
                      <a:endParaRPr lang="en-IN" sz="1100" dirty="0"/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lang="en-IN" dirty="0" smtClean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Machine Learning Approaches for Smart Waste Management Systems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P. Costa, L. Ferreira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Sustainable Cities and Society &amp; 2024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Random Forest, XGBoost, MLP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ML models improved prediction of waste efficiency rates</a:t>
                      </a:r>
                      <a:endParaRPr lang="en-IN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Lacked interpretability and long-term trend forecasting</a:t>
                      </a:r>
                      <a:endParaRPr lang="en-IN" sz="1100" dirty="0"/>
                    </a:p>
                  </a:txBody>
                  <a:tcPr/>
                </a:tc>
              </a:tr>
              <a:tr h="1173480">
                <a:tc>
                  <a:txBody>
                    <a:bodyPr/>
                    <a:lstStyle/>
                    <a:p>
                      <a:r>
                        <a:rPr lang="en-IN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AI-Based Circular Economy Decision Support System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 smtClean="0"/>
                        <a:t>Y. Tan, K. S. </a:t>
                      </a:r>
                      <a:r>
                        <a:rPr lang="es-ES" sz="1100" dirty="0" err="1" smtClean="0"/>
                        <a:t>Chen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Resources, Conservation &amp; Recycling Advances &amp;2024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Deep Learning (MLP, Autoencoder), Policy Mapping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Built an AI-based framework for circular economy evaluation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No explainability layer or integration with SDG 12 datasets</a:t>
                      </a:r>
                      <a:endParaRPr lang="en-IN" sz="11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1754" y="529843"/>
            <a:ext cx="476948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45" dirty="0"/>
              <a:t>R</a:t>
            </a:r>
            <a:r>
              <a:rPr spc="-10" dirty="0"/>
              <a:t>E</a:t>
            </a:r>
            <a:r>
              <a:rPr spc="20" dirty="0"/>
              <a:t>S</a:t>
            </a:r>
            <a:r>
              <a:rPr spc="-10" dirty="0"/>
              <a:t>E</a:t>
            </a:r>
            <a:r>
              <a:rPr spc="45" dirty="0"/>
              <a:t>ARC</a:t>
            </a:r>
            <a:r>
              <a:rPr spc="20" dirty="0"/>
              <a:t>H</a:t>
            </a:r>
            <a:r>
              <a:rPr spc="-195" dirty="0"/>
              <a:t> </a:t>
            </a:r>
            <a:r>
              <a:rPr spc="-55" dirty="0"/>
              <a:t>G</a:t>
            </a:r>
            <a:r>
              <a:rPr spc="45" dirty="0"/>
              <a:t>A</a:t>
            </a:r>
            <a:r>
              <a:rPr spc="15" dirty="0"/>
              <a:t>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 smtClean="0"/>
              <a:t>05-12</a:t>
            </a:r>
            <a:r>
              <a:rPr spc="5" dirty="0" smtClean="0"/>
              <a:t>-202</a:t>
            </a:r>
            <a:r>
              <a:rPr lang="en-IN" spc="5" dirty="0"/>
              <a:t>5</a:t>
            </a:r>
            <a:endParaRPr spc="5" dirty="0"/>
          </a:p>
        </p:txBody>
      </p:sp>
      <p:sp>
        <p:nvSpPr>
          <p:cNvPr id="5" name="object 5"/>
          <p:cNvSpPr txBox="1"/>
          <p:nvPr/>
        </p:nvSpPr>
        <p:spPr>
          <a:xfrm>
            <a:off x="3881754" y="6451049"/>
            <a:ext cx="130276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2" y="6451049"/>
            <a:ext cx="98466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CB7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9979026" cy="348557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Existing models focus only on </a:t>
            </a:r>
            <a:r>
              <a:rPr lang="en-US" sz="2400" b="1" dirty="0"/>
              <a:t>waste forecasting</a:t>
            </a:r>
            <a:r>
              <a:rPr lang="en-US" sz="2400" dirty="0"/>
              <a:t>, not on </a:t>
            </a:r>
            <a:r>
              <a:rPr lang="en-US" sz="2400" b="1" dirty="0"/>
              <a:t>circular economy recommendations</a:t>
            </a:r>
            <a:r>
              <a:rPr lang="en-US" sz="2400" dirty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Most studies </a:t>
            </a:r>
            <a:r>
              <a:rPr lang="en-US" sz="2400" b="1" dirty="0"/>
              <a:t>lack explainable AI</a:t>
            </a:r>
            <a:r>
              <a:rPr lang="en-US" sz="2400" dirty="0"/>
              <a:t> techniques to interpret model decisions.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Limited research integrates </a:t>
            </a:r>
            <a:r>
              <a:rPr lang="en-US" sz="2400" b="1" dirty="0"/>
              <a:t>SDG 12 indicators</a:t>
            </a:r>
            <a:r>
              <a:rPr lang="en-US" sz="2400" dirty="0"/>
              <a:t> with AI-based frameworks.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Few works combine </a:t>
            </a:r>
            <a:r>
              <a:rPr lang="en-US" sz="2400" b="1" dirty="0"/>
              <a:t>forecasting, clustering, and classification</a:t>
            </a:r>
            <a:r>
              <a:rPr lang="en-US" sz="2400" dirty="0"/>
              <a:t> in a single model.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b="1" dirty="0"/>
              <a:t>Policy-level decision support</a:t>
            </a:r>
            <a:r>
              <a:rPr lang="en-US" sz="2400" dirty="0"/>
              <a:t> and visualization are rarely addressed.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/>
              <a:t>No unified model links </a:t>
            </a:r>
            <a:r>
              <a:rPr lang="en-US" sz="2400" b="1" dirty="0"/>
              <a:t>data analytics</a:t>
            </a:r>
            <a:r>
              <a:rPr lang="en-US" sz="2400" dirty="0"/>
              <a:t> to </a:t>
            </a:r>
            <a:r>
              <a:rPr lang="en-US" sz="2400" b="1" dirty="0"/>
              <a:t>Rethink–Redesign–Reuse</a:t>
            </a:r>
            <a:r>
              <a:rPr lang="en-US" sz="2400" dirty="0"/>
              <a:t> actions.</a:t>
            </a:r>
          </a:p>
          <a:p>
            <a:pPr algn="just">
              <a:buClr>
                <a:schemeClr val="tx1"/>
              </a:buClr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2940" y="529843"/>
            <a:ext cx="359473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0" dirty="0"/>
              <a:t>O</a:t>
            </a:r>
            <a:r>
              <a:rPr spc="65" dirty="0"/>
              <a:t>B</a:t>
            </a:r>
            <a:r>
              <a:rPr spc="45" dirty="0"/>
              <a:t>J</a:t>
            </a:r>
            <a:r>
              <a:rPr spc="-15" dirty="0"/>
              <a:t>E</a:t>
            </a:r>
            <a:r>
              <a:rPr spc="45" dirty="0"/>
              <a:t>C</a:t>
            </a:r>
            <a:r>
              <a:rPr spc="-15" dirty="0"/>
              <a:t>T</a:t>
            </a:r>
            <a:r>
              <a:rPr spc="10" dirty="0"/>
              <a:t>I</a:t>
            </a:r>
            <a:r>
              <a:rPr spc="45" dirty="0"/>
              <a:t>V</a:t>
            </a:r>
            <a:r>
              <a:rPr spc="-15" dirty="0"/>
              <a:t>E</a:t>
            </a:r>
            <a:r>
              <a:rPr spc="15"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 smtClean="0"/>
              <a:t>05-12-2025</a:t>
            </a:r>
            <a:endParaRPr spc="5" dirty="0"/>
          </a:p>
        </p:txBody>
      </p:sp>
      <p:sp>
        <p:nvSpPr>
          <p:cNvPr id="5" name="object 5"/>
          <p:cNvSpPr txBox="1"/>
          <p:nvPr/>
        </p:nvSpPr>
        <p:spPr>
          <a:xfrm>
            <a:off x="4426330" y="6451049"/>
            <a:ext cx="9838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2" y="6451049"/>
            <a:ext cx="9838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CB7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90601" y="1744016"/>
            <a:ext cx="9906000" cy="453201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Build </a:t>
            </a:r>
            <a:r>
              <a:rPr lang="en-US" sz="2400" dirty="0"/>
              <a:t>a </a:t>
            </a:r>
            <a:r>
              <a:rPr lang="en-US" sz="2400" b="1" dirty="0"/>
              <a:t>data-driven CE framework</a:t>
            </a:r>
            <a:r>
              <a:rPr lang="en-US" sz="2400" dirty="0"/>
              <a:t> integrating multi-source datasets.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Cluster cities by </a:t>
            </a:r>
            <a:r>
              <a:rPr lang="en-US" sz="2400" b="1" dirty="0"/>
              <a:t>waste and sustainability indicators</a:t>
            </a:r>
            <a:r>
              <a:rPr lang="en-US" sz="2400" dirty="0"/>
              <a:t> </a:t>
            </a:r>
            <a:r>
              <a:rPr lang="en-US" sz="2400" dirty="0" smtClean="0"/>
              <a:t>using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</a:t>
            </a:r>
            <a:r>
              <a:rPr lang="en-US" sz="2400" dirty="0"/>
              <a:t>Autoencoder + KMeans.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Train </a:t>
            </a:r>
            <a:r>
              <a:rPr lang="en-US" sz="2400" b="1" dirty="0"/>
              <a:t>deep learning classifiers</a:t>
            </a:r>
            <a:r>
              <a:rPr lang="en-US" sz="2400" dirty="0"/>
              <a:t> to recommend CE actions.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Forecast </a:t>
            </a:r>
            <a:r>
              <a:rPr lang="en-US" sz="2400" b="1" dirty="0"/>
              <a:t>future waste generation trends</a:t>
            </a:r>
            <a:r>
              <a:rPr lang="en-US" sz="2400" dirty="0"/>
              <a:t> using </a:t>
            </a:r>
            <a:r>
              <a:rPr lang="en-US" sz="2400" b="1" dirty="0"/>
              <a:t>LSTM</a:t>
            </a:r>
            <a:r>
              <a:rPr lang="en-US" sz="2400" dirty="0"/>
              <a:t>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Use </a:t>
            </a:r>
            <a:r>
              <a:rPr lang="en-US" sz="2400" b="1" dirty="0"/>
              <a:t>SHAP</a:t>
            </a:r>
            <a:r>
              <a:rPr lang="en-US" sz="2400" dirty="0"/>
              <a:t> to explain feature impact for transparency.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Support </a:t>
            </a:r>
            <a:r>
              <a:rPr lang="en-US" sz="2400" b="1" dirty="0"/>
              <a:t>policy formulation</a:t>
            </a:r>
            <a:r>
              <a:rPr lang="en-US" sz="2400" dirty="0"/>
              <a:t> for SDG 12 implementation.</a:t>
            </a:r>
          </a:p>
          <a:p>
            <a:endParaRPr lang="en-US" sz="2400" dirty="0"/>
          </a:p>
          <a:p>
            <a:endParaRPr lang="en-US" sz="2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8904" y="529843"/>
            <a:ext cx="467296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0" dirty="0"/>
              <a:t>METHODOLOGY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 smtClean="0"/>
              <a:t>05-12-2025</a:t>
            </a:r>
            <a:endParaRPr spc="5" dirty="0"/>
          </a:p>
        </p:txBody>
      </p:sp>
      <p:sp>
        <p:nvSpPr>
          <p:cNvPr id="5" name="object 5"/>
          <p:cNvSpPr txBox="1"/>
          <p:nvPr/>
        </p:nvSpPr>
        <p:spPr>
          <a:xfrm>
            <a:off x="3733800" y="6469220"/>
            <a:ext cx="106972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6971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CB7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021976" y="882628"/>
            <a:ext cx="9601200" cy="5988819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endParaRPr lang="en-IN" sz="2000" b="1" dirty="0" smtClean="0"/>
          </a:p>
          <a:p>
            <a:r>
              <a:rPr lang="en-IN" sz="2400" b="1" dirty="0"/>
              <a:t>Data Collection:</a:t>
            </a:r>
            <a:r>
              <a:rPr lang="en-IN" sz="2400" dirty="0"/>
              <a:t> MSW, SDG scores, population, and demographic data for 59 cities.</a:t>
            </a:r>
          </a:p>
          <a:p>
            <a:r>
              <a:rPr lang="en-IN" sz="2400" b="1" dirty="0"/>
              <a:t>Data Preprocessing:</a:t>
            </a:r>
            <a:r>
              <a:rPr lang="en-IN" sz="2400" dirty="0"/>
              <a:t> Missing value imputation, label encoding, z-score standardization.</a:t>
            </a:r>
          </a:p>
          <a:p>
            <a:r>
              <a:rPr lang="en-IN" sz="2400" b="1" dirty="0"/>
              <a:t>Feature Engineering:</a:t>
            </a:r>
            <a:r>
              <a:rPr lang="en-IN" sz="2400" dirty="0"/>
              <a:t> Created metrics like </a:t>
            </a:r>
            <a:r>
              <a:rPr lang="en-IN" sz="2400" i="1" dirty="0"/>
              <a:t>Waste per Capita</a:t>
            </a:r>
            <a:r>
              <a:rPr lang="en-IN" sz="2400" dirty="0"/>
              <a:t>, </a:t>
            </a:r>
            <a:r>
              <a:rPr lang="en-IN" sz="2400" i="1" dirty="0"/>
              <a:t>Recycling Efficiency</a:t>
            </a:r>
            <a:r>
              <a:rPr lang="en-IN" sz="2400" dirty="0"/>
              <a:t>, </a:t>
            </a:r>
            <a:r>
              <a:rPr lang="en-IN" sz="2400" i="1" dirty="0"/>
              <a:t>Circular Score</a:t>
            </a:r>
            <a:r>
              <a:rPr lang="en-IN" sz="2400" dirty="0"/>
              <a:t>.</a:t>
            </a:r>
          </a:p>
          <a:p>
            <a:r>
              <a:rPr lang="en-IN" sz="2400" b="1" dirty="0"/>
              <a:t>Dimensionality Reduction:</a:t>
            </a:r>
            <a:r>
              <a:rPr lang="en-IN" sz="2400" dirty="0"/>
              <a:t> Autoencoder compresses data to latent space.</a:t>
            </a:r>
          </a:p>
          <a:p>
            <a:r>
              <a:rPr lang="en-IN" sz="2400" b="1" dirty="0"/>
              <a:t>Clustering:</a:t>
            </a:r>
            <a:r>
              <a:rPr lang="en-IN" sz="2400" dirty="0"/>
              <a:t> KMeans clusters mapped to CE actions — Rethink, Redesign, Reuse.</a:t>
            </a:r>
          </a:p>
          <a:p>
            <a:r>
              <a:rPr lang="en-IN" sz="2400" b="1" dirty="0"/>
              <a:t>Classification:</a:t>
            </a:r>
            <a:r>
              <a:rPr lang="en-IN" sz="2400" dirty="0"/>
              <a:t> Five MLP architectures trained; Dropout MLP achieved best accuracy.</a:t>
            </a:r>
          </a:p>
          <a:p>
            <a:r>
              <a:rPr lang="en-IN" sz="2400" b="1" dirty="0"/>
              <a:t>Forecasting:</a:t>
            </a:r>
            <a:r>
              <a:rPr lang="en-IN" sz="2400" dirty="0"/>
              <a:t> LSTM predicted city-wise future waste generation.</a:t>
            </a:r>
          </a:p>
          <a:p>
            <a:r>
              <a:rPr lang="en-IN" sz="2400" b="1" dirty="0"/>
              <a:t>Explainability:</a:t>
            </a:r>
            <a:r>
              <a:rPr lang="en-IN" sz="2400" dirty="0"/>
              <a:t> SHAP interpreted model decisions.</a:t>
            </a:r>
          </a:p>
          <a:p>
            <a:r>
              <a:rPr lang="en-IN" sz="2400" b="1" dirty="0"/>
              <a:t>Evaluation:</a:t>
            </a:r>
            <a:r>
              <a:rPr lang="en-IN" sz="2400" dirty="0"/>
              <a:t> Accuracy, F1, Silhouette, and Confusion Matrix.</a:t>
            </a:r>
          </a:p>
          <a:p>
            <a:pPr marL="12065" marR="290830" algn="just">
              <a:lnSpc>
                <a:spcPts val="3000"/>
              </a:lnSpc>
              <a:spcBef>
                <a:spcPts val="480"/>
              </a:spcBef>
              <a:tabLst>
                <a:tab pos="241935" algn="l"/>
                <a:tab pos="2394585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sz="3950" spc="20" dirty="0" smtClean="0"/>
              <a:t>FLOW</a:t>
            </a:r>
            <a:r>
              <a:rPr sz="3950" spc="-25" dirty="0" smtClean="0"/>
              <a:t> </a:t>
            </a:r>
            <a:r>
              <a:rPr sz="3950" spc="5" dirty="0"/>
              <a:t>DIAGRAM</a:t>
            </a:r>
            <a:endParaRPr sz="39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 smtClean="0"/>
              <a:t>05-12-2025</a:t>
            </a:r>
            <a:endParaRPr spc="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4426329" y="6451049"/>
            <a:ext cx="93681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2" y="6451049"/>
            <a:ext cx="90846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 err="1" smtClean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5" dirty="0" err="1" smtClean="0">
                <a:solidFill>
                  <a:srgbClr val="888888"/>
                </a:solidFill>
                <a:latin typeface="Times New Roman"/>
                <a:cs typeface="Times New Roman"/>
              </a:rPr>
              <a:t>No</a:t>
            </a:r>
            <a:r>
              <a:rPr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CB7</a:t>
            </a: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902" y="-8610600"/>
            <a:ext cx="412610" cy="72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2" descr="C:\Users\HP PC\Pictures\Flowchar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24000"/>
            <a:ext cx="3343275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Implementation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371600"/>
            <a:ext cx="9753600" cy="4893647"/>
          </a:xfrm>
        </p:spPr>
        <p:txBody>
          <a:bodyPr/>
          <a:lstStyle/>
          <a:p>
            <a:endParaRPr lang="en-IN" sz="2000" b="1" dirty="0" smtClean="0"/>
          </a:p>
          <a:p>
            <a:r>
              <a:rPr lang="en-IN" sz="2000" b="1" dirty="0" smtClean="0"/>
              <a:t>Software Specifications          </a:t>
            </a:r>
          </a:p>
          <a:p>
            <a:endParaRPr lang="en-IN" sz="2000" b="1" dirty="0" smtClean="0"/>
          </a:p>
          <a:p>
            <a:r>
              <a:rPr lang="en-IN" sz="2000" dirty="0" smtClean="0"/>
              <a:t>Python</a:t>
            </a:r>
          </a:p>
          <a:p>
            <a:r>
              <a:rPr lang="en-IN" sz="2000" dirty="0" smtClean="0"/>
              <a:t>TensorFlow / Scikit-learn</a:t>
            </a:r>
          </a:p>
          <a:p>
            <a:r>
              <a:rPr lang="en-IN" sz="2000" dirty="0" smtClean="0"/>
              <a:t>Flask </a:t>
            </a:r>
          </a:p>
          <a:p>
            <a:r>
              <a:rPr lang="en-IN" sz="2000" dirty="0" smtClean="0"/>
              <a:t>React Frontend</a:t>
            </a:r>
          </a:p>
          <a:p>
            <a:r>
              <a:rPr lang="en-IN" sz="2000" dirty="0" smtClean="0"/>
              <a:t>SHAP / Plotly / Pandas</a:t>
            </a:r>
          </a:p>
          <a:p>
            <a:endParaRPr lang="en-IN" sz="2000" dirty="0" smtClean="0"/>
          </a:p>
          <a:p>
            <a:r>
              <a:rPr lang="en-IN" sz="2000" b="1" dirty="0" smtClean="0"/>
              <a:t>Hardware Specifications </a:t>
            </a:r>
          </a:p>
          <a:p>
            <a:endParaRPr lang="en-IN" sz="2000" b="1" dirty="0" smtClean="0"/>
          </a:p>
          <a:p>
            <a:r>
              <a:rPr lang="en-IN" sz="2000" dirty="0" smtClean="0"/>
              <a:t>Windows 11 (64-bit)</a:t>
            </a:r>
          </a:p>
          <a:p>
            <a:r>
              <a:rPr lang="en-IN" sz="2000" dirty="0" smtClean="0"/>
              <a:t>x64 Processor</a:t>
            </a:r>
          </a:p>
          <a:p>
            <a:r>
              <a:rPr lang="en-IN" sz="2000" dirty="0" smtClean="0"/>
              <a:t>8 GB Storage</a:t>
            </a:r>
          </a:p>
          <a:p>
            <a:r>
              <a:rPr lang="en-IN" sz="2000" dirty="0" smtClean="0"/>
              <a:t>1080p Display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5659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IMPLEMENTATION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970591"/>
          </a:xfrm>
        </p:spPr>
        <p:txBody>
          <a:bodyPr/>
          <a:lstStyle/>
          <a:p>
            <a:r>
              <a:rPr lang="en-IN" sz="2400" b="1" dirty="0"/>
              <a:t>Phase 1: Data Integration and </a:t>
            </a:r>
            <a:r>
              <a:rPr lang="en-IN" sz="2400" b="1" dirty="0" smtClean="0"/>
              <a:t>Cleaning</a:t>
            </a:r>
          </a:p>
          <a:p>
            <a:endParaRPr lang="en-IN" sz="2400" b="1" dirty="0"/>
          </a:p>
          <a:p>
            <a:r>
              <a:rPr lang="en-US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city_stats_df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('MSW_Waste_59_Cities.csv')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waste_df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('Waste_Management_and_Recycling_India.csv')</a:t>
            </a:r>
          </a:p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sdg_df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('Data_SDG_India_Index_2020-21.csv')                                                                                </a:t>
            </a:r>
          </a:p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population_df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'Area_Population_Density_and_Population_2011_Census.csv‘)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/>
              <a:t>Description</a:t>
            </a:r>
            <a:r>
              <a:rPr lang="en-US" b="1" dirty="0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sz="1600" dirty="0"/>
              <a:t>Multiple datasets were imported — covering waste generation,</a:t>
            </a:r>
          </a:p>
          <a:p>
            <a:r>
              <a:rPr lang="en-US" sz="1600" dirty="0"/>
              <a:t> SDG indicators, demographics, and population density for 59 </a:t>
            </a:r>
          </a:p>
          <a:p>
            <a:r>
              <a:rPr lang="en-US" sz="1600" dirty="0"/>
              <a:t>Indian cities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sz="1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merged_df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waste_df.merge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city_stats_df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on='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City_Name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how='left')</a:t>
            </a:r>
          </a:p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merged_df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merged_df.merge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new_pop_df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[['City_Name','State','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Total_Population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']],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on=['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City_Name','State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'], how='left')</a:t>
            </a:r>
          </a:p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merged_df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merged_df.merge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sdg_df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[['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State','SDG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12','Composite Score']], on='State', how='left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/>
              <a:t>Description</a:t>
            </a:r>
            <a:r>
              <a:rPr lang="en-US" b="1" dirty="0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sz="1600" dirty="0"/>
              <a:t>All sources merged into a single dataset based on </a:t>
            </a:r>
            <a:r>
              <a:rPr lang="en-US" sz="1600" b="1" dirty="0"/>
              <a:t>city</a:t>
            </a:r>
            <a:r>
              <a:rPr lang="en-US" sz="1600" dirty="0"/>
              <a:t> and </a:t>
            </a:r>
            <a:r>
              <a:rPr lang="en-US" sz="1600" b="1" dirty="0"/>
              <a:t>state</a:t>
            </a:r>
            <a:r>
              <a:rPr lang="en-US" sz="1600" dirty="0"/>
              <a:t> </a:t>
            </a:r>
            <a:r>
              <a:rPr lang="en-US" sz="1600" dirty="0" smtClean="0"/>
              <a:t>fields for </a:t>
            </a:r>
            <a:r>
              <a:rPr lang="en-US" sz="1600" dirty="0"/>
              <a:t>unified modeling</a:t>
            </a:r>
            <a:r>
              <a:rPr lang="en-US" sz="1400" dirty="0"/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7925246"/>
          </a:xfrm>
        </p:spPr>
        <p:txBody>
          <a:bodyPr/>
          <a:lstStyle/>
          <a:p>
            <a:r>
              <a:rPr lang="en-IN" sz="2400" b="1" dirty="0"/>
              <a:t>Phase 2: Data </a:t>
            </a:r>
            <a:r>
              <a:rPr lang="en-IN" sz="2400" b="1" dirty="0" smtClean="0"/>
              <a:t>Preprocessing</a:t>
            </a:r>
          </a:p>
          <a:p>
            <a:endParaRPr lang="en-IN" sz="2400" b="1" dirty="0"/>
          </a:p>
          <a:p>
            <a:r>
              <a:rPr lang="en-IN" sz="1100" dirty="0" err="1" smtClean="0"/>
              <a:t>merged_df</a:t>
            </a:r>
            <a:r>
              <a:rPr lang="en-IN" sz="1100" dirty="0"/>
              <a:t>['</a:t>
            </a:r>
            <a:r>
              <a:rPr lang="en-IN" sz="1100" dirty="0" err="1"/>
              <a:t>City_Name</a:t>
            </a:r>
            <a:r>
              <a:rPr lang="en-IN" sz="1100" dirty="0"/>
              <a:t>'] = </a:t>
            </a:r>
            <a:r>
              <a:rPr lang="en-IN" sz="1100" dirty="0" err="1"/>
              <a:t>merged_df</a:t>
            </a:r>
            <a:r>
              <a:rPr lang="en-IN" sz="1100" dirty="0"/>
              <a:t>['</a:t>
            </a:r>
            <a:r>
              <a:rPr lang="en-IN" sz="1100" dirty="0" err="1"/>
              <a:t>City_Name</a:t>
            </a:r>
            <a:r>
              <a:rPr lang="en-IN" sz="1100" dirty="0"/>
              <a:t>'].</a:t>
            </a:r>
            <a:r>
              <a:rPr lang="en-IN" sz="1100" dirty="0" err="1"/>
              <a:t>str.strip</a:t>
            </a:r>
            <a:r>
              <a:rPr lang="en-IN" sz="1100" dirty="0"/>
              <a:t>().</a:t>
            </a:r>
            <a:r>
              <a:rPr lang="en-IN" sz="1100" dirty="0" err="1"/>
              <a:t>str.title</a:t>
            </a:r>
            <a:r>
              <a:rPr lang="en-IN" sz="1100" dirty="0"/>
              <a:t>()</a:t>
            </a:r>
          </a:p>
          <a:p>
            <a:r>
              <a:rPr lang="en-IN" sz="1100" dirty="0" err="1"/>
              <a:t>sdg_df</a:t>
            </a:r>
            <a:r>
              <a:rPr lang="en-IN" sz="1100" dirty="0"/>
              <a:t>['State'] = </a:t>
            </a:r>
            <a:r>
              <a:rPr lang="en-IN" sz="1100" dirty="0" err="1"/>
              <a:t>sdg_df</a:t>
            </a:r>
            <a:r>
              <a:rPr lang="en-IN" sz="1100" dirty="0"/>
              <a:t>['State'].</a:t>
            </a:r>
            <a:r>
              <a:rPr lang="en-IN" sz="1100" dirty="0" err="1"/>
              <a:t>str.strip</a:t>
            </a:r>
            <a:r>
              <a:rPr lang="en-IN" sz="1100" dirty="0"/>
              <a:t>().</a:t>
            </a:r>
            <a:r>
              <a:rPr lang="en-IN" sz="1100" dirty="0" err="1"/>
              <a:t>str.title</a:t>
            </a:r>
            <a:r>
              <a:rPr lang="en-IN" sz="1100" dirty="0" smtClean="0"/>
              <a:t>()</a:t>
            </a:r>
          </a:p>
          <a:p>
            <a:endParaRPr lang="en-IN" sz="1100" dirty="0" smtClean="0"/>
          </a:p>
          <a:p>
            <a:r>
              <a:rPr lang="en-US" sz="1600" b="1" dirty="0" smtClean="0"/>
              <a:t>Description</a:t>
            </a:r>
            <a:r>
              <a:rPr lang="en-US" sz="1600" b="1" dirty="0"/>
              <a:t>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Standardized inconsistent city/state name formats to avoid mismatched merges</a:t>
            </a:r>
            <a:r>
              <a:rPr lang="en-US" sz="1600" dirty="0" smtClean="0"/>
              <a:t>.</a:t>
            </a:r>
          </a:p>
          <a:p>
            <a:endParaRPr lang="en-US" sz="1600" dirty="0" smtClean="0"/>
          </a:p>
          <a:p>
            <a:r>
              <a:rPr lang="en-IN" sz="1100" dirty="0" err="1" smtClean="0"/>
              <a:t>merged_df</a:t>
            </a:r>
            <a:r>
              <a:rPr lang="en-IN" sz="1100" dirty="0"/>
              <a:t>['Population Density'] = </a:t>
            </a:r>
            <a:r>
              <a:rPr lang="en-IN" sz="1100" dirty="0" err="1"/>
              <a:t>merged_df</a:t>
            </a:r>
            <a:r>
              <a:rPr lang="en-IN" sz="1100" dirty="0"/>
              <a:t>['Population Density'].</a:t>
            </a:r>
            <a:r>
              <a:rPr lang="en-IN" sz="1100" dirty="0" err="1"/>
              <a:t>fillna</a:t>
            </a:r>
            <a:r>
              <a:rPr lang="en-IN" sz="1100" dirty="0"/>
              <a:t>(</a:t>
            </a:r>
          </a:p>
          <a:p>
            <a:r>
              <a:rPr lang="en-IN" sz="1100" dirty="0" smtClean="0"/>
              <a:t> </a:t>
            </a:r>
            <a:r>
              <a:rPr lang="en-IN" sz="1100" dirty="0" err="1"/>
              <a:t>merged_df</a:t>
            </a:r>
            <a:r>
              <a:rPr lang="en-IN" sz="1100" dirty="0"/>
              <a:t>['Population_2001'] / </a:t>
            </a:r>
            <a:r>
              <a:rPr lang="en-IN" sz="1100" dirty="0" err="1"/>
              <a:t>merged_df</a:t>
            </a:r>
            <a:r>
              <a:rPr lang="en-IN" sz="1100" dirty="0"/>
              <a:t>['</a:t>
            </a:r>
            <a:r>
              <a:rPr lang="en-IN" sz="1100" dirty="0" err="1"/>
              <a:t>Area_sq_km</a:t>
            </a:r>
            <a:r>
              <a:rPr lang="en-IN" sz="1100" dirty="0" smtClean="0"/>
              <a:t>'])</a:t>
            </a:r>
          </a:p>
          <a:p>
            <a:endParaRPr lang="en-IN" sz="1100" dirty="0"/>
          </a:p>
          <a:p>
            <a:r>
              <a:rPr lang="en-US" sz="1600" b="1" dirty="0" smtClean="0"/>
              <a:t>Description</a:t>
            </a:r>
            <a:r>
              <a:rPr lang="en-US" sz="1600" b="1" dirty="0"/>
              <a:t>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Calculated missing population densities automatically </a:t>
            </a:r>
            <a:r>
              <a:rPr lang="en-US" sz="1600" dirty="0" smtClean="0"/>
              <a:t>using</a:t>
            </a:r>
          </a:p>
          <a:p>
            <a:r>
              <a:rPr lang="en-US" sz="1600" dirty="0" smtClean="0"/>
              <a:t>population </a:t>
            </a:r>
            <a:r>
              <a:rPr lang="en-US" sz="1600" dirty="0"/>
              <a:t>and area data</a:t>
            </a:r>
            <a:r>
              <a:rPr lang="en-US" sz="1600" dirty="0" smtClean="0"/>
              <a:t>.</a:t>
            </a:r>
          </a:p>
          <a:p>
            <a:endParaRPr lang="en-US" sz="1600" dirty="0" smtClean="0"/>
          </a:p>
          <a:p>
            <a:r>
              <a:rPr lang="en-IN" sz="1100" dirty="0" err="1" smtClean="0"/>
              <a:t>merged_df.fillna</a:t>
            </a:r>
            <a:r>
              <a:rPr lang="en-IN" sz="1100" dirty="0" smtClean="0"/>
              <a:t>(</a:t>
            </a:r>
            <a:r>
              <a:rPr lang="en-IN" sz="1100" dirty="0" err="1" smtClean="0"/>
              <a:t>merged_df.median</a:t>
            </a:r>
            <a:r>
              <a:rPr lang="en-IN" sz="1100" dirty="0"/>
              <a:t>(), </a:t>
            </a:r>
            <a:r>
              <a:rPr lang="en-IN" sz="1100" dirty="0" err="1"/>
              <a:t>inplace</a:t>
            </a:r>
            <a:r>
              <a:rPr lang="en-IN" sz="1100" dirty="0"/>
              <a:t>=True</a:t>
            </a:r>
            <a:r>
              <a:rPr lang="en-IN" sz="1100" dirty="0" smtClean="0"/>
              <a:t>)</a:t>
            </a:r>
          </a:p>
          <a:p>
            <a:endParaRPr lang="en-IN" sz="1100" dirty="0"/>
          </a:p>
          <a:p>
            <a:r>
              <a:rPr lang="en-US" sz="1600" b="1" dirty="0"/>
              <a:t>Description: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Missing values imputed with median for stable statistical representation.</a:t>
            </a:r>
          </a:p>
          <a:p>
            <a:endParaRPr lang="en-IN" sz="1100" dirty="0"/>
          </a:p>
          <a:p>
            <a:endParaRPr lang="en-IN" sz="2400" b="1" dirty="0" smtClean="0"/>
          </a:p>
          <a:p>
            <a:endParaRPr lang="en-IN" sz="2400" b="1" dirty="0"/>
          </a:p>
          <a:p>
            <a:endParaRPr lang="en-IN" sz="2400" b="1" dirty="0" smtClean="0"/>
          </a:p>
          <a:p>
            <a:endParaRPr lang="en-IN" sz="2400" b="1" dirty="0"/>
          </a:p>
          <a:p>
            <a:endParaRPr lang="en-IN" sz="2400" b="1" dirty="0" smtClean="0"/>
          </a:p>
          <a:p>
            <a:endParaRPr lang="en-IN" sz="2400" b="1" dirty="0"/>
          </a:p>
          <a:p>
            <a:endParaRPr lang="en-IN" sz="2400" b="1" dirty="0" smtClean="0"/>
          </a:p>
          <a:p>
            <a:endParaRPr lang="en-IN" sz="2400" b="1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 smtClean="0"/>
              <a:t>05-12</a:t>
            </a:r>
            <a:r>
              <a:rPr spc="5" dirty="0" smtClean="0"/>
              <a:t>-202</a:t>
            </a:r>
            <a:r>
              <a:rPr lang="en-IN" spc="5" dirty="0"/>
              <a:t>5</a:t>
            </a:r>
            <a:endParaRPr spc="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4267200" y="6451049"/>
            <a:ext cx="91732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3765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C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B7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IMPLEMENTATION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447800"/>
            <a:ext cx="5303520" cy="5278368"/>
          </a:xfrm>
        </p:spPr>
        <p:txBody>
          <a:bodyPr/>
          <a:lstStyle/>
          <a:p>
            <a:r>
              <a:rPr lang="en-IN" sz="2400" b="1" dirty="0"/>
              <a:t>Phase 3: Feature </a:t>
            </a:r>
            <a:r>
              <a:rPr lang="en-IN" sz="2400" b="1" dirty="0" smtClean="0"/>
              <a:t>Engineering</a:t>
            </a:r>
          </a:p>
          <a:p>
            <a:endParaRPr lang="en-IN" sz="2400" b="1" dirty="0" smtClean="0"/>
          </a:p>
          <a:p>
            <a:r>
              <a:rPr lang="en-IN" sz="1100" dirty="0" err="1" smtClean="0"/>
              <a:t>merged_df</a:t>
            </a:r>
            <a:r>
              <a:rPr lang="en-IN" sz="1100" dirty="0"/>
              <a:t>['</a:t>
            </a:r>
            <a:r>
              <a:rPr lang="en-IN" sz="1100" dirty="0" err="1"/>
              <a:t>Waste_per_capita</a:t>
            </a:r>
            <a:r>
              <a:rPr lang="en-IN" sz="1100" dirty="0"/>
              <a:t>'] = </a:t>
            </a:r>
            <a:r>
              <a:rPr lang="en-IN" sz="1100" dirty="0" err="1"/>
              <a:t>merged_df</a:t>
            </a:r>
            <a:r>
              <a:rPr lang="en-IN" sz="1100" dirty="0"/>
              <a:t>['Waste Generated (Tons/Day)'] * 1000 / </a:t>
            </a:r>
            <a:r>
              <a:rPr lang="en-IN" sz="1100" dirty="0" err="1"/>
              <a:t>merged_df</a:t>
            </a:r>
            <a:r>
              <a:rPr lang="en-IN" sz="1100" dirty="0"/>
              <a:t>['Population_2001']</a:t>
            </a:r>
          </a:p>
          <a:p>
            <a:r>
              <a:rPr lang="en-IN" sz="1100" dirty="0" err="1"/>
              <a:t>merged_df</a:t>
            </a:r>
            <a:r>
              <a:rPr lang="en-IN" sz="1100" dirty="0"/>
              <a:t>['</a:t>
            </a:r>
            <a:r>
              <a:rPr lang="en-IN" sz="1100" dirty="0" err="1"/>
              <a:t>Recycling_Efficiency</a:t>
            </a:r>
            <a:r>
              <a:rPr lang="en-IN" sz="1100" dirty="0"/>
              <a:t>'] = </a:t>
            </a:r>
            <a:r>
              <a:rPr lang="en-IN" sz="1100" dirty="0" err="1"/>
              <a:t>merged_df</a:t>
            </a:r>
            <a:r>
              <a:rPr lang="en-IN" sz="1100" dirty="0"/>
              <a:t>['Recycling Rate (%)'] / 100</a:t>
            </a:r>
          </a:p>
          <a:p>
            <a:r>
              <a:rPr lang="en-IN" sz="1100" dirty="0" err="1"/>
              <a:t>merged_df</a:t>
            </a:r>
            <a:r>
              <a:rPr lang="en-IN" sz="1100" dirty="0"/>
              <a:t>['</a:t>
            </a:r>
            <a:r>
              <a:rPr lang="en-IN" sz="1100" dirty="0" err="1"/>
              <a:t>Circular_Score</a:t>
            </a:r>
            <a:r>
              <a:rPr lang="en-IN" sz="1100" dirty="0"/>
              <a:t>'] = (</a:t>
            </a:r>
            <a:r>
              <a:rPr lang="en-IN" sz="1100" dirty="0" err="1"/>
              <a:t>merged_df</a:t>
            </a:r>
            <a:r>
              <a:rPr lang="en-IN" sz="1100" dirty="0"/>
              <a:t>['Recycling Rate (%)'] + </a:t>
            </a:r>
          </a:p>
          <a:p>
            <a:r>
              <a:rPr lang="en-IN" sz="1100" dirty="0"/>
              <a:t>                               </a:t>
            </a:r>
            <a:r>
              <a:rPr lang="en-IN" sz="1100" dirty="0" smtClean="0"/>
              <a:t>                        </a:t>
            </a:r>
            <a:r>
              <a:rPr lang="en-IN" sz="1100" dirty="0" err="1" smtClean="0"/>
              <a:t>merged_df</a:t>
            </a:r>
            <a:r>
              <a:rPr lang="en-IN" sz="1100" dirty="0"/>
              <a:t>['Municipal Efficiency Score (1-10)'] * 10 + </a:t>
            </a:r>
          </a:p>
          <a:p>
            <a:r>
              <a:rPr lang="en-IN" sz="1100" dirty="0"/>
              <a:t>                               </a:t>
            </a:r>
            <a:r>
              <a:rPr lang="en-IN" sz="1100" dirty="0" smtClean="0"/>
              <a:t>                        </a:t>
            </a:r>
            <a:r>
              <a:rPr lang="en-IN" sz="1100" dirty="0" err="1" smtClean="0"/>
              <a:t>merged_df</a:t>
            </a:r>
            <a:r>
              <a:rPr lang="en-IN" sz="1100" dirty="0"/>
              <a:t>['SDG 12']) / </a:t>
            </a:r>
            <a:r>
              <a:rPr lang="en-IN" sz="1100" dirty="0" smtClean="0"/>
              <a:t>3</a:t>
            </a:r>
          </a:p>
          <a:p>
            <a:endParaRPr lang="en-IN" sz="1100" dirty="0" smtClean="0"/>
          </a:p>
          <a:p>
            <a:r>
              <a:rPr lang="en-US" sz="1600" b="1" dirty="0" smtClean="0"/>
              <a:t>Description</a:t>
            </a:r>
            <a:r>
              <a:rPr lang="en-US" sz="1600" b="1" dirty="0"/>
              <a:t>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Engineered three crucial indicators:</a:t>
            </a:r>
          </a:p>
          <a:p>
            <a:r>
              <a:rPr lang="en-US" sz="1600" b="1" dirty="0" err="1"/>
              <a:t>Waste_per_capita</a:t>
            </a:r>
            <a:r>
              <a:rPr lang="en-US" sz="1600" dirty="0"/>
              <a:t> – waste per individual</a:t>
            </a:r>
          </a:p>
          <a:p>
            <a:r>
              <a:rPr lang="en-US" sz="1600" b="1" dirty="0" err="1"/>
              <a:t>Recycling_Efficiency</a:t>
            </a:r>
            <a:r>
              <a:rPr lang="en-US" sz="1600" dirty="0"/>
              <a:t> – normalized recycling rate</a:t>
            </a:r>
          </a:p>
          <a:p>
            <a:r>
              <a:rPr lang="en-US" sz="1600" b="1" dirty="0" err="1"/>
              <a:t>Circular_Score</a:t>
            </a:r>
            <a:r>
              <a:rPr lang="en-US" sz="1600" dirty="0"/>
              <a:t> – composite sustainability </a:t>
            </a:r>
            <a:r>
              <a:rPr lang="en-US" sz="1600" dirty="0" smtClean="0"/>
              <a:t>index</a:t>
            </a:r>
          </a:p>
          <a:p>
            <a:endParaRPr lang="en-US" sz="1600" dirty="0" smtClean="0"/>
          </a:p>
          <a:p>
            <a:r>
              <a:rPr lang="en-US" sz="1100" dirty="0" smtClean="0"/>
              <a:t>from </a:t>
            </a:r>
            <a:r>
              <a:rPr lang="en-US" sz="1100" dirty="0" err="1"/>
              <a:t>sklearn.preprocessing</a:t>
            </a:r>
            <a:r>
              <a:rPr lang="en-US" sz="1100" dirty="0"/>
              <a:t> import </a:t>
            </a:r>
            <a:r>
              <a:rPr lang="en-US" sz="1100" dirty="0" err="1"/>
              <a:t>MinMaxScaler</a:t>
            </a:r>
            <a:endParaRPr lang="en-US" sz="1100" dirty="0"/>
          </a:p>
          <a:p>
            <a:r>
              <a:rPr lang="en-US" sz="1100" dirty="0" err="1"/>
              <a:t>scaler</a:t>
            </a:r>
            <a:r>
              <a:rPr lang="en-US" sz="1100" dirty="0"/>
              <a:t> = </a:t>
            </a:r>
            <a:r>
              <a:rPr lang="en-US" sz="1100" dirty="0" err="1"/>
              <a:t>MinMaxScaler</a:t>
            </a:r>
            <a:r>
              <a:rPr lang="en-US" sz="1100" dirty="0"/>
              <a:t>()</a:t>
            </a:r>
          </a:p>
          <a:p>
            <a:r>
              <a:rPr lang="en-US" sz="1100" dirty="0" err="1"/>
              <a:t>merged_df</a:t>
            </a:r>
            <a:r>
              <a:rPr lang="en-US" sz="1100" dirty="0"/>
              <a:t>[['Waste_per_capita','Recycling_Efficiency','Circular_Score','Population Density']] </a:t>
            </a:r>
            <a:r>
              <a:rPr lang="en-US" sz="1100" dirty="0" smtClean="0"/>
              <a:t>=\</a:t>
            </a:r>
            <a:r>
              <a:rPr lang="en-US" sz="1100" dirty="0" err="1" smtClean="0"/>
              <a:t>scaler.fit_transform</a:t>
            </a:r>
            <a:r>
              <a:rPr lang="en-US" sz="1100" dirty="0" smtClean="0"/>
              <a:t>(</a:t>
            </a:r>
            <a:r>
              <a:rPr lang="en-US" sz="1100" dirty="0" err="1" smtClean="0"/>
              <a:t>merged_df</a:t>
            </a:r>
            <a:r>
              <a:rPr lang="en-US" sz="1100" dirty="0"/>
              <a:t>[['Waste_per_capita','Recycling_Efficiency','Circular_Score','Population Density</a:t>
            </a:r>
            <a:r>
              <a:rPr lang="en-US" sz="1100" dirty="0" smtClean="0"/>
              <a:t>']])</a:t>
            </a:r>
          </a:p>
          <a:p>
            <a:endParaRPr lang="en-US" sz="1100" dirty="0"/>
          </a:p>
          <a:p>
            <a:r>
              <a:rPr lang="en-US" sz="1600" dirty="0" smtClean="0"/>
              <a:t>Applied </a:t>
            </a:r>
            <a:r>
              <a:rPr lang="en-US" sz="1600" b="1" dirty="0"/>
              <a:t>Min-Max scaling</a:t>
            </a:r>
            <a:r>
              <a:rPr lang="en-US" sz="1600" dirty="0"/>
              <a:t> to normalize feature ranges for neural network training.</a:t>
            </a:r>
          </a:p>
          <a:p>
            <a:endParaRPr lang="en-IN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3"/>
          </p:nvPr>
        </p:nvSpPr>
        <p:spPr>
          <a:xfrm>
            <a:off x="6278880" y="1447800"/>
            <a:ext cx="5303520" cy="5115520"/>
          </a:xfrm>
        </p:spPr>
        <p:txBody>
          <a:bodyPr/>
          <a:lstStyle/>
          <a:p>
            <a:r>
              <a:rPr lang="en-US" sz="2400" b="1" dirty="0"/>
              <a:t>Phase 4: Forecasting with </a:t>
            </a:r>
            <a:r>
              <a:rPr lang="en-US" sz="2400" b="1" dirty="0" smtClean="0"/>
              <a:t>LSTM</a:t>
            </a:r>
          </a:p>
          <a:p>
            <a:endParaRPr lang="en-US" sz="2400" b="1" dirty="0" smtClean="0"/>
          </a:p>
          <a:p>
            <a:r>
              <a:rPr lang="en-IN" sz="1100" dirty="0" smtClean="0"/>
              <a:t>from </a:t>
            </a:r>
            <a:r>
              <a:rPr lang="en-IN" sz="1100" dirty="0" err="1"/>
              <a:t>tensorflow.keras.models</a:t>
            </a:r>
            <a:r>
              <a:rPr lang="en-IN" sz="1100" dirty="0"/>
              <a:t> import Sequential</a:t>
            </a:r>
          </a:p>
          <a:p>
            <a:r>
              <a:rPr lang="en-IN" sz="1100" dirty="0"/>
              <a:t>from </a:t>
            </a:r>
            <a:r>
              <a:rPr lang="en-IN" sz="1100" dirty="0" err="1"/>
              <a:t>tensorflow.keras.layers</a:t>
            </a:r>
            <a:r>
              <a:rPr lang="en-IN" sz="1100" dirty="0"/>
              <a:t> import LSTM, Dense, Dropout</a:t>
            </a:r>
          </a:p>
          <a:p>
            <a:r>
              <a:rPr lang="en-IN" sz="1100" dirty="0" smtClean="0"/>
              <a:t>model </a:t>
            </a:r>
            <a:r>
              <a:rPr lang="en-IN" sz="1100" dirty="0"/>
              <a:t>= Sequential([</a:t>
            </a:r>
          </a:p>
          <a:p>
            <a:r>
              <a:rPr lang="en-IN" sz="1100" dirty="0"/>
              <a:t>    LSTM(64, activation='</a:t>
            </a:r>
            <a:r>
              <a:rPr lang="en-IN" sz="1100" dirty="0" err="1"/>
              <a:t>relu</a:t>
            </a:r>
            <a:r>
              <a:rPr lang="en-IN" sz="1100" dirty="0"/>
              <a:t>', </a:t>
            </a:r>
            <a:r>
              <a:rPr lang="en-IN" sz="1100" dirty="0" err="1"/>
              <a:t>input_shape</a:t>
            </a:r>
            <a:r>
              <a:rPr lang="en-IN" sz="1100" dirty="0"/>
              <a:t>=(3,1)),</a:t>
            </a:r>
          </a:p>
          <a:p>
            <a:r>
              <a:rPr lang="en-IN" sz="1100" dirty="0"/>
              <a:t>    Dropout(0.2),</a:t>
            </a:r>
          </a:p>
          <a:p>
            <a:r>
              <a:rPr lang="en-IN" sz="1100" dirty="0"/>
              <a:t>    Dense(1)</a:t>
            </a:r>
          </a:p>
          <a:p>
            <a:r>
              <a:rPr lang="en-IN" sz="1100" dirty="0"/>
              <a:t>])</a:t>
            </a:r>
          </a:p>
          <a:p>
            <a:r>
              <a:rPr lang="en-IN" sz="1100" dirty="0" err="1"/>
              <a:t>model.compile</a:t>
            </a:r>
            <a:r>
              <a:rPr lang="en-IN" sz="1100" dirty="0"/>
              <a:t>(optimizer='</a:t>
            </a:r>
            <a:r>
              <a:rPr lang="en-IN" sz="1100" dirty="0" err="1"/>
              <a:t>adam</a:t>
            </a:r>
            <a:r>
              <a:rPr lang="en-IN" sz="1100" dirty="0"/>
              <a:t>', loss='</a:t>
            </a:r>
            <a:r>
              <a:rPr lang="en-IN" sz="1100" dirty="0" err="1"/>
              <a:t>mse</a:t>
            </a:r>
            <a:r>
              <a:rPr lang="en-IN" sz="1100" dirty="0" smtClean="0"/>
              <a:t>')</a:t>
            </a:r>
          </a:p>
          <a:p>
            <a:endParaRPr lang="en-IN" sz="1100" dirty="0"/>
          </a:p>
          <a:p>
            <a:r>
              <a:rPr lang="en-IN" sz="1600" b="1" dirty="0" smtClean="0"/>
              <a:t>Description</a:t>
            </a:r>
            <a:r>
              <a:rPr lang="en-IN" sz="1600" b="1" dirty="0"/>
              <a:t>:</a:t>
            </a:r>
            <a:r>
              <a:rPr lang="en-IN" sz="1600" dirty="0"/>
              <a:t/>
            </a:r>
            <a:br>
              <a:rPr lang="en-IN" sz="1600" dirty="0"/>
            </a:br>
            <a:r>
              <a:rPr lang="en-IN" sz="1600" dirty="0"/>
              <a:t>LSTM model designed to predict </a:t>
            </a:r>
            <a:r>
              <a:rPr lang="en-IN" sz="1600" b="1" dirty="0"/>
              <a:t>future waste generation trends</a:t>
            </a:r>
            <a:r>
              <a:rPr lang="en-IN" sz="1600" dirty="0"/>
              <a:t> per city using temporal sequences</a:t>
            </a:r>
            <a:r>
              <a:rPr lang="en-IN" sz="1600" dirty="0" smtClean="0"/>
              <a:t>.</a:t>
            </a:r>
          </a:p>
          <a:p>
            <a:endParaRPr lang="en-IN" sz="1600" dirty="0"/>
          </a:p>
          <a:p>
            <a:pPr rtl="0"/>
            <a:r>
              <a:rPr lang="en-IN" sz="1100" dirty="0" err="1"/>
              <a:t>next_prediction</a:t>
            </a:r>
            <a:r>
              <a:rPr lang="en-IN" sz="1100" dirty="0"/>
              <a:t> = </a:t>
            </a:r>
            <a:r>
              <a:rPr lang="en-IN" sz="1100" dirty="0" err="1"/>
              <a:t>model.predict</a:t>
            </a:r>
            <a:r>
              <a:rPr lang="en-IN" sz="1100" dirty="0"/>
              <a:t>(</a:t>
            </a:r>
            <a:r>
              <a:rPr lang="en-IN" sz="1100" dirty="0" err="1"/>
              <a:t>last_sequence</a:t>
            </a:r>
            <a:r>
              <a:rPr lang="en-IN" sz="1100" dirty="0"/>
              <a:t>) </a:t>
            </a:r>
            <a:r>
              <a:rPr lang="en-IN" sz="1100" dirty="0" err="1"/>
              <a:t>next_tpd</a:t>
            </a:r>
            <a:r>
              <a:rPr lang="en-IN" sz="1100" dirty="0"/>
              <a:t> = </a:t>
            </a:r>
            <a:r>
              <a:rPr lang="en-IN" sz="1100" dirty="0" err="1"/>
              <a:t>scaler.inverse_transform</a:t>
            </a:r>
            <a:r>
              <a:rPr lang="en-IN" sz="1100" dirty="0"/>
              <a:t>(</a:t>
            </a:r>
            <a:r>
              <a:rPr lang="en-IN" sz="1100" dirty="0" err="1"/>
              <a:t>next_prediction</a:t>
            </a:r>
            <a:r>
              <a:rPr lang="en-IN" sz="1100" dirty="0"/>
              <a:t>)[0][</a:t>
            </a:r>
            <a:r>
              <a:rPr lang="en-IN" sz="1100" dirty="0" smtClean="0"/>
              <a:t>0]</a:t>
            </a:r>
          </a:p>
          <a:p>
            <a:pPr rtl="0"/>
            <a:endParaRPr lang="en-IN" sz="1100" dirty="0"/>
          </a:p>
          <a:p>
            <a:r>
              <a:rPr lang="en-IN" sz="1600" b="1" dirty="0" smtClean="0"/>
              <a:t>Description</a:t>
            </a:r>
            <a:r>
              <a:rPr lang="en-IN" sz="1600" b="1" dirty="0"/>
              <a:t>:</a:t>
            </a:r>
            <a:r>
              <a:rPr lang="en-IN" sz="1600" dirty="0"/>
              <a:t/>
            </a:r>
            <a:br>
              <a:rPr lang="en-IN" sz="1600" dirty="0"/>
            </a:br>
            <a:r>
              <a:rPr lang="en-IN" sz="1600" dirty="0"/>
              <a:t>Forecasted the </a:t>
            </a:r>
            <a:r>
              <a:rPr lang="en-IN" sz="1600" b="1" dirty="0"/>
              <a:t>next-year waste (Tons/Day)</a:t>
            </a:r>
            <a:r>
              <a:rPr lang="en-IN" sz="1600" dirty="0"/>
              <a:t> per city, yielding values like </a:t>
            </a:r>
            <a:r>
              <a:rPr lang="en-IN" sz="1600" i="1" dirty="0"/>
              <a:t>Mumbai ≈ 6061 TPD</a:t>
            </a:r>
            <a:r>
              <a:rPr lang="en-IN" sz="2400" i="1" dirty="0"/>
              <a:t>.</a:t>
            </a:r>
            <a:endParaRPr lang="en-IN" sz="2400" dirty="0"/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513263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IMPLEMENTATION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295400"/>
            <a:ext cx="5303520" cy="5663089"/>
          </a:xfrm>
        </p:spPr>
        <p:txBody>
          <a:bodyPr/>
          <a:lstStyle/>
          <a:p>
            <a:r>
              <a:rPr lang="en-IN" sz="2400" b="1" dirty="0"/>
              <a:t>Phase 5: Autoencoder-based </a:t>
            </a:r>
            <a:r>
              <a:rPr lang="en-IN" sz="2400" b="1" dirty="0" smtClean="0"/>
              <a:t>Clustering</a:t>
            </a:r>
          </a:p>
          <a:p>
            <a:endParaRPr lang="en-IN" sz="2400" b="1" dirty="0" smtClean="0"/>
          </a:p>
          <a:p>
            <a:r>
              <a:rPr lang="en-IN" sz="1100" dirty="0" smtClean="0"/>
              <a:t>from </a:t>
            </a:r>
            <a:r>
              <a:rPr lang="en-IN" sz="1100" dirty="0" err="1"/>
              <a:t>tensorflow.keras.layers</a:t>
            </a:r>
            <a:r>
              <a:rPr lang="en-IN" sz="1100" dirty="0"/>
              <a:t> import Input, Dense</a:t>
            </a:r>
          </a:p>
          <a:p>
            <a:r>
              <a:rPr lang="en-IN" sz="1100" dirty="0"/>
              <a:t>from </a:t>
            </a:r>
            <a:r>
              <a:rPr lang="en-IN" sz="1100" dirty="0" err="1"/>
              <a:t>tensorflow.keras.models</a:t>
            </a:r>
            <a:r>
              <a:rPr lang="en-IN" sz="1100" dirty="0"/>
              <a:t> import Model</a:t>
            </a:r>
          </a:p>
          <a:p>
            <a:r>
              <a:rPr lang="en-IN" sz="1100" dirty="0" err="1" smtClean="0"/>
              <a:t>input_dim</a:t>
            </a:r>
            <a:r>
              <a:rPr lang="en-IN" sz="1100" dirty="0" smtClean="0"/>
              <a:t> </a:t>
            </a:r>
            <a:r>
              <a:rPr lang="en-IN" sz="1100" dirty="0"/>
              <a:t>= </a:t>
            </a:r>
            <a:r>
              <a:rPr lang="en-IN" sz="1100" dirty="0" err="1"/>
              <a:t>X_scaled.shape</a:t>
            </a:r>
            <a:r>
              <a:rPr lang="en-IN" sz="1100" dirty="0"/>
              <a:t>[1]</a:t>
            </a:r>
          </a:p>
          <a:p>
            <a:r>
              <a:rPr lang="en-IN" sz="1100" dirty="0" err="1"/>
              <a:t>input_layer</a:t>
            </a:r>
            <a:r>
              <a:rPr lang="en-IN" sz="1100" dirty="0"/>
              <a:t> = Input(shape=(</a:t>
            </a:r>
            <a:r>
              <a:rPr lang="en-IN" sz="1100" dirty="0" err="1"/>
              <a:t>input_dim</a:t>
            </a:r>
            <a:r>
              <a:rPr lang="en-IN" sz="1100" dirty="0"/>
              <a:t>,))</a:t>
            </a:r>
          </a:p>
          <a:p>
            <a:r>
              <a:rPr lang="en-IN" sz="1100" dirty="0"/>
              <a:t>encoded = Dense(5, activation='</a:t>
            </a:r>
            <a:r>
              <a:rPr lang="en-IN" sz="1100" dirty="0" err="1"/>
              <a:t>relu</a:t>
            </a:r>
            <a:r>
              <a:rPr lang="en-IN" sz="1100" dirty="0"/>
              <a:t>')(</a:t>
            </a:r>
            <a:r>
              <a:rPr lang="en-IN" sz="1100" dirty="0" err="1"/>
              <a:t>input_layer</a:t>
            </a:r>
            <a:r>
              <a:rPr lang="en-IN" sz="1100" dirty="0"/>
              <a:t>)</a:t>
            </a:r>
          </a:p>
          <a:p>
            <a:r>
              <a:rPr lang="en-IN" sz="1100" dirty="0"/>
              <a:t>encoded = Dense(2, activation='</a:t>
            </a:r>
            <a:r>
              <a:rPr lang="en-IN" sz="1100" dirty="0" err="1"/>
              <a:t>relu</a:t>
            </a:r>
            <a:r>
              <a:rPr lang="en-IN" sz="1100" dirty="0"/>
              <a:t>')(encoded)</a:t>
            </a:r>
          </a:p>
          <a:p>
            <a:r>
              <a:rPr lang="en-IN" sz="1100" dirty="0"/>
              <a:t>decoded = Dense(5, activation='</a:t>
            </a:r>
            <a:r>
              <a:rPr lang="en-IN" sz="1100" dirty="0" err="1"/>
              <a:t>relu</a:t>
            </a:r>
            <a:r>
              <a:rPr lang="en-IN" sz="1100" dirty="0"/>
              <a:t>')(encoded)</a:t>
            </a:r>
          </a:p>
          <a:p>
            <a:r>
              <a:rPr lang="en-IN" sz="1100" dirty="0"/>
              <a:t>decoded = Dense(</a:t>
            </a:r>
            <a:r>
              <a:rPr lang="en-IN" sz="1100" dirty="0" err="1"/>
              <a:t>input_dim</a:t>
            </a:r>
            <a:r>
              <a:rPr lang="en-IN" sz="1100" dirty="0"/>
              <a:t>, activation='linear')(decoded)</a:t>
            </a:r>
          </a:p>
          <a:p>
            <a:r>
              <a:rPr lang="en-IN" sz="1100" dirty="0" smtClean="0"/>
              <a:t>autoencoder </a:t>
            </a:r>
            <a:r>
              <a:rPr lang="en-IN" sz="1100" dirty="0"/>
              <a:t>= Model(inputs=</a:t>
            </a:r>
            <a:r>
              <a:rPr lang="en-IN" sz="1100" dirty="0" err="1"/>
              <a:t>input_layer</a:t>
            </a:r>
            <a:r>
              <a:rPr lang="en-IN" sz="1100" dirty="0"/>
              <a:t>, outputs=decoded)</a:t>
            </a:r>
          </a:p>
          <a:p>
            <a:r>
              <a:rPr lang="en-IN" sz="1100" dirty="0" err="1"/>
              <a:t>autoencoder.compile</a:t>
            </a:r>
            <a:r>
              <a:rPr lang="en-IN" sz="1100" dirty="0"/>
              <a:t>(optimizer='</a:t>
            </a:r>
            <a:r>
              <a:rPr lang="en-IN" sz="1100" dirty="0" err="1"/>
              <a:t>adam</a:t>
            </a:r>
            <a:r>
              <a:rPr lang="en-IN" sz="1100" dirty="0"/>
              <a:t>', loss='</a:t>
            </a:r>
            <a:r>
              <a:rPr lang="en-IN" sz="1100" dirty="0" err="1"/>
              <a:t>mse</a:t>
            </a:r>
            <a:r>
              <a:rPr lang="en-IN" sz="1100" dirty="0"/>
              <a:t>')</a:t>
            </a:r>
          </a:p>
          <a:p>
            <a:r>
              <a:rPr lang="en-IN" sz="1100" dirty="0" err="1"/>
              <a:t>autoencoder.fit</a:t>
            </a:r>
            <a:r>
              <a:rPr lang="en-IN" sz="1100" dirty="0"/>
              <a:t>(</a:t>
            </a:r>
            <a:r>
              <a:rPr lang="en-IN" sz="1100" dirty="0" err="1"/>
              <a:t>X_scaled</a:t>
            </a:r>
            <a:r>
              <a:rPr lang="en-IN" sz="1100" dirty="0"/>
              <a:t>, </a:t>
            </a:r>
            <a:r>
              <a:rPr lang="en-IN" sz="1100" dirty="0" err="1"/>
              <a:t>X_scaled</a:t>
            </a:r>
            <a:r>
              <a:rPr lang="en-IN" sz="1100" dirty="0"/>
              <a:t>, epochs=100, </a:t>
            </a:r>
            <a:r>
              <a:rPr lang="en-IN" sz="1100" dirty="0" err="1"/>
              <a:t>batch_size</a:t>
            </a:r>
            <a:r>
              <a:rPr lang="en-IN" sz="1100" dirty="0"/>
              <a:t>=8, verbose=0</a:t>
            </a:r>
            <a:r>
              <a:rPr lang="en-IN" sz="1100" dirty="0" smtClean="0"/>
              <a:t>)</a:t>
            </a:r>
          </a:p>
          <a:p>
            <a:endParaRPr lang="en-IN" sz="1100" dirty="0"/>
          </a:p>
          <a:p>
            <a:r>
              <a:rPr lang="en-US" sz="1600" b="1" dirty="0"/>
              <a:t>Description: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An </a:t>
            </a:r>
            <a:r>
              <a:rPr lang="en-US" sz="1600" b="1" dirty="0"/>
              <a:t>Autoencoder</a:t>
            </a:r>
            <a:r>
              <a:rPr lang="en-US" sz="1600" dirty="0"/>
              <a:t> reduced 6D features to </a:t>
            </a:r>
            <a:r>
              <a:rPr lang="en-US" sz="1600" b="1" dirty="0"/>
              <a:t>2D latent space</a:t>
            </a:r>
            <a:r>
              <a:rPr lang="en-US" sz="1600" dirty="0"/>
              <a:t> for visual clustering using unsupervised representation learning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IN" sz="1100" dirty="0" smtClean="0"/>
              <a:t>from </a:t>
            </a:r>
            <a:r>
              <a:rPr lang="en-IN" sz="1100" dirty="0" err="1"/>
              <a:t>sklearn.cluster</a:t>
            </a:r>
            <a:r>
              <a:rPr lang="en-IN" sz="1100" dirty="0"/>
              <a:t> import KMeans</a:t>
            </a:r>
          </a:p>
          <a:p>
            <a:r>
              <a:rPr lang="en-IN" sz="1100" dirty="0" err="1"/>
              <a:t>kmeans</a:t>
            </a:r>
            <a:r>
              <a:rPr lang="en-IN" sz="1100" dirty="0"/>
              <a:t> = KMeans(</a:t>
            </a:r>
            <a:r>
              <a:rPr lang="en-IN" sz="1100" dirty="0" err="1"/>
              <a:t>n_clusters</a:t>
            </a:r>
            <a:r>
              <a:rPr lang="en-IN" sz="1100" dirty="0"/>
              <a:t>=3, </a:t>
            </a:r>
            <a:r>
              <a:rPr lang="en-IN" sz="1100" dirty="0" err="1"/>
              <a:t>random_state</a:t>
            </a:r>
            <a:r>
              <a:rPr lang="en-IN" sz="1100" dirty="0"/>
              <a:t>=42)</a:t>
            </a:r>
          </a:p>
          <a:p>
            <a:r>
              <a:rPr lang="en-IN" sz="1100" dirty="0"/>
              <a:t>clusters = </a:t>
            </a:r>
            <a:r>
              <a:rPr lang="en-IN" sz="1100" dirty="0" err="1"/>
              <a:t>kmeans.fit_predict</a:t>
            </a:r>
            <a:r>
              <a:rPr lang="en-IN" sz="1100" dirty="0"/>
              <a:t>(</a:t>
            </a:r>
            <a:r>
              <a:rPr lang="en-IN" sz="1100" dirty="0" err="1"/>
              <a:t>X_encoded</a:t>
            </a:r>
            <a:r>
              <a:rPr lang="en-IN" sz="1100" dirty="0" smtClean="0"/>
              <a:t>)</a:t>
            </a:r>
          </a:p>
          <a:p>
            <a:endParaRPr lang="en-IN" sz="1100" dirty="0" smtClean="0"/>
          </a:p>
          <a:p>
            <a:r>
              <a:rPr lang="en-US" sz="1600" b="1" dirty="0"/>
              <a:t>Description: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Applied </a:t>
            </a:r>
            <a:r>
              <a:rPr lang="en-US" sz="1600" b="1" dirty="0"/>
              <a:t>KMeans</a:t>
            </a:r>
            <a:r>
              <a:rPr lang="en-US" sz="1600" dirty="0"/>
              <a:t> on encoded data to form 3 interpretable clusters →</a:t>
            </a:r>
            <a:br>
              <a:rPr lang="en-US" sz="1600" dirty="0"/>
            </a:br>
            <a:r>
              <a:rPr lang="en-US" sz="1600" dirty="0"/>
              <a:t>Cluster 0 = Rethink, Cluster 1 = Redesign, Cluster 2 = Reuse.</a:t>
            </a:r>
            <a:endParaRPr lang="en-IN" sz="1600" dirty="0"/>
          </a:p>
          <a:p>
            <a:endParaRPr lang="en-IN" sz="1600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3"/>
          </p:nvPr>
        </p:nvSpPr>
        <p:spPr>
          <a:xfrm>
            <a:off x="6278880" y="1371600"/>
            <a:ext cx="5303520" cy="4031873"/>
          </a:xfrm>
        </p:spPr>
        <p:txBody>
          <a:bodyPr/>
          <a:lstStyle/>
          <a:p>
            <a:r>
              <a:rPr lang="en-US" sz="2400" b="1" dirty="0"/>
              <a:t>Phase 6: Deep Learning </a:t>
            </a:r>
            <a:r>
              <a:rPr lang="en-US" sz="2400" b="1" dirty="0" smtClean="0"/>
              <a:t>Classifiers</a:t>
            </a:r>
          </a:p>
          <a:p>
            <a:endParaRPr lang="en-US" sz="2400" b="1" dirty="0" smtClean="0"/>
          </a:p>
          <a:p>
            <a:r>
              <a:rPr lang="en-US" sz="1100" dirty="0"/>
              <a:t>from </a:t>
            </a:r>
            <a:r>
              <a:rPr lang="en-US" sz="1100" dirty="0" err="1"/>
              <a:t>tensorflow.keras.models</a:t>
            </a:r>
            <a:r>
              <a:rPr lang="en-US" sz="1100" dirty="0"/>
              <a:t> import Sequential</a:t>
            </a:r>
          </a:p>
          <a:p>
            <a:r>
              <a:rPr lang="en-US" sz="1100" dirty="0"/>
              <a:t>from </a:t>
            </a:r>
            <a:r>
              <a:rPr lang="en-US" sz="1100" dirty="0" err="1"/>
              <a:t>tensorflow.keras.layers</a:t>
            </a:r>
            <a:r>
              <a:rPr lang="en-US" sz="1100" dirty="0"/>
              <a:t> import Dense, Dropout, </a:t>
            </a:r>
            <a:r>
              <a:rPr lang="en-US" sz="1100" dirty="0" err="1"/>
              <a:t>BatchNormalization</a:t>
            </a:r>
            <a:endParaRPr lang="en-US" sz="1100" dirty="0"/>
          </a:p>
          <a:p>
            <a:r>
              <a:rPr lang="en-US" sz="1100" dirty="0" smtClean="0"/>
              <a:t>model </a:t>
            </a:r>
            <a:r>
              <a:rPr lang="en-US" sz="1100" dirty="0"/>
              <a:t>= Sequential([</a:t>
            </a:r>
          </a:p>
          <a:p>
            <a:r>
              <a:rPr lang="en-US" sz="1100" dirty="0"/>
              <a:t>    Dense(64, activation='</a:t>
            </a:r>
            <a:r>
              <a:rPr lang="en-US" sz="1100" dirty="0" err="1"/>
              <a:t>relu</a:t>
            </a:r>
            <a:r>
              <a:rPr lang="en-US" sz="1100" dirty="0"/>
              <a:t>', </a:t>
            </a:r>
            <a:r>
              <a:rPr lang="en-US" sz="1100" dirty="0" err="1"/>
              <a:t>input_shape</a:t>
            </a:r>
            <a:r>
              <a:rPr lang="en-US" sz="1100" dirty="0"/>
              <a:t>=(</a:t>
            </a:r>
            <a:r>
              <a:rPr lang="en-US" sz="1100" dirty="0" err="1"/>
              <a:t>X_train_scaled.shape</a:t>
            </a:r>
            <a:r>
              <a:rPr lang="en-US" sz="1100" dirty="0"/>
              <a:t>[1],)),</a:t>
            </a:r>
          </a:p>
          <a:p>
            <a:r>
              <a:rPr lang="en-US" sz="1100" dirty="0"/>
              <a:t>    Dropout(0.3),</a:t>
            </a:r>
          </a:p>
          <a:p>
            <a:r>
              <a:rPr lang="en-US" sz="1100" dirty="0"/>
              <a:t>    Dense(32, activation='</a:t>
            </a:r>
            <a:r>
              <a:rPr lang="en-US" sz="1100" dirty="0" err="1"/>
              <a:t>relu</a:t>
            </a:r>
            <a:r>
              <a:rPr lang="en-US" sz="1100" dirty="0"/>
              <a:t>'),</a:t>
            </a:r>
          </a:p>
          <a:p>
            <a:r>
              <a:rPr lang="en-US" sz="1100" dirty="0"/>
              <a:t>    Dense(3, activation='softmax')</a:t>
            </a:r>
          </a:p>
          <a:p>
            <a:r>
              <a:rPr lang="en-US" sz="1100" dirty="0"/>
              <a:t>])</a:t>
            </a:r>
          </a:p>
          <a:p>
            <a:r>
              <a:rPr lang="en-US" sz="1100" dirty="0" err="1"/>
              <a:t>model.compile</a:t>
            </a:r>
            <a:r>
              <a:rPr lang="en-US" sz="1100" dirty="0"/>
              <a:t>(optimizer='</a:t>
            </a:r>
            <a:r>
              <a:rPr lang="en-US" sz="1100" dirty="0" err="1"/>
              <a:t>adam</a:t>
            </a:r>
            <a:r>
              <a:rPr lang="en-US" sz="1100" dirty="0"/>
              <a:t>', loss='</a:t>
            </a:r>
            <a:r>
              <a:rPr lang="en-US" sz="1100" dirty="0" err="1"/>
              <a:t>sparse_categorical_crossentropy</a:t>
            </a:r>
            <a:r>
              <a:rPr lang="en-US" sz="1100" dirty="0"/>
              <a:t>', metrics=['accuracy'])</a:t>
            </a:r>
          </a:p>
          <a:p>
            <a:endParaRPr lang="en-US" sz="2400" b="1" dirty="0" smtClean="0"/>
          </a:p>
          <a:p>
            <a:r>
              <a:rPr lang="en-US" sz="1600" b="1" dirty="0"/>
              <a:t>Description: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Built a </a:t>
            </a:r>
            <a:r>
              <a:rPr lang="en-US" sz="1600" b="1" dirty="0"/>
              <a:t>Dropout MLP classifier</a:t>
            </a:r>
            <a:r>
              <a:rPr lang="en-US" sz="1600" dirty="0"/>
              <a:t> to predict CE actions (Rethink, Redesign, Reuse).</a:t>
            </a:r>
            <a:br>
              <a:rPr lang="en-US" sz="1600" dirty="0"/>
            </a:br>
            <a:r>
              <a:rPr lang="en-US" sz="1600" dirty="0"/>
              <a:t>Achieved </a:t>
            </a:r>
            <a:r>
              <a:rPr lang="en-US" sz="1600" b="1" dirty="0"/>
              <a:t>Accuracy = 97.86 %</a:t>
            </a:r>
            <a:r>
              <a:rPr lang="en-US" sz="1600" dirty="0"/>
              <a:t>, </a:t>
            </a:r>
            <a:r>
              <a:rPr lang="en-US" sz="1600" b="1" dirty="0"/>
              <a:t>F1 = 0.98</a:t>
            </a:r>
            <a:r>
              <a:rPr lang="en-US" sz="1600" dirty="0"/>
              <a:t>.</a:t>
            </a:r>
            <a:endParaRPr lang="en-US" sz="1600" b="1" dirty="0"/>
          </a:p>
          <a:p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3407101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IMPLEMENTATION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354765"/>
          </a:xfrm>
        </p:spPr>
        <p:txBody>
          <a:bodyPr/>
          <a:lstStyle/>
          <a:p>
            <a:r>
              <a:rPr lang="en-US" sz="2400" b="1" dirty="0"/>
              <a:t>Phase 7: Explainability with </a:t>
            </a:r>
            <a:r>
              <a:rPr lang="en-US" sz="2400" b="1" dirty="0" smtClean="0"/>
              <a:t>SHAP</a:t>
            </a:r>
          </a:p>
          <a:p>
            <a:endParaRPr lang="en-US" sz="2400" b="1" dirty="0"/>
          </a:p>
          <a:p>
            <a:r>
              <a:rPr lang="en-US" sz="1100" dirty="0"/>
              <a:t>import </a:t>
            </a:r>
            <a:r>
              <a:rPr lang="en-US" sz="1100" dirty="0" err="1"/>
              <a:t>shap</a:t>
            </a:r>
            <a:endParaRPr lang="en-US" sz="1100" dirty="0"/>
          </a:p>
          <a:p>
            <a:r>
              <a:rPr lang="en-US" sz="1100" dirty="0"/>
              <a:t>explainer = </a:t>
            </a:r>
            <a:r>
              <a:rPr lang="en-US" sz="1100" dirty="0" err="1"/>
              <a:t>shap.Explainer</a:t>
            </a:r>
            <a:r>
              <a:rPr lang="en-US" sz="1100" dirty="0"/>
              <a:t>(model, </a:t>
            </a:r>
            <a:r>
              <a:rPr lang="en-US" sz="1100" dirty="0" err="1"/>
              <a:t>X_test_scaled</a:t>
            </a:r>
            <a:r>
              <a:rPr lang="en-US" sz="1100" dirty="0"/>
              <a:t>)</a:t>
            </a:r>
          </a:p>
          <a:p>
            <a:r>
              <a:rPr lang="en-US" sz="1100" dirty="0" err="1"/>
              <a:t>shap_values</a:t>
            </a:r>
            <a:r>
              <a:rPr lang="en-US" sz="1100" dirty="0"/>
              <a:t> = explainer(</a:t>
            </a:r>
            <a:r>
              <a:rPr lang="en-US" sz="1100" dirty="0" err="1"/>
              <a:t>X_test_scaled</a:t>
            </a:r>
            <a:r>
              <a:rPr lang="en-US" sz="1100" dirty="0"/>
              <a:t>)</a:t>
            </a:r>
          </a:p>
          <a:p>
            <a:r>
              <a:rPr lang="en-US" sz="1100" dirty="0" err="1"/>
              <a:t>shap.summary_plot</a:t>
            </a:r>
            <a:r>
              <a:rPr lang="en-US" sz="1100" dirty="0"/>
              <a:t>(</a:t>
            </a:r>
            <a:r>
              <a:rPr lang="en-US" sz="1100" dirty="0" err="1"/>
              <a:t>shap_values</a:t>
            </a:r>
            <a:r>
              <a:rPr lang="en-US" sz="1100" dirty="0"/>
              <a:t>, </a:t>
            </a:r>
            <a:r>
              <a:rPr lang="en-US" sz="1100" dirty="0" err="1"/>
              <a:t>X_test</a:t>
            </a:r>
            <a:r>
              <a:rPr lang="en-US" sz="1100" dirty="0"/>
              <a:t>, </a:t>
            </a:r>
            <a:r>
              <a:rPr lang="en-US" sz="1100" dirty="0" err="1"/>
              <a:t>feature_names</a:t>
            </a:r>
            <a:r>
              <a:rPr lang="en-US" sz="1100" dirty="0"/>
              <a:t>=</a:t>
            </a:r>
            <a:r>
              <a:rPr lang="en-US" sz="1100" dirty="0" err="1"/>
              <a:t>feature_names</a:t>
            </a:r>
            <a:r>
              <a:rPr lang="en-US" sz="1100" dirty="0" smtClean="0"/>
              <a:t>)</a:t>
            </a:r>
          </a:p>
          <a:p>
            <a:endParaRPr lang="en-US" sz="1100" dirty="0"/>
          </a:p>
          <a:p>
            <a:endParaRPr lang="en-US" sz="1100" dirty="0" smtClean="0"/>
          </a:p>
          <a:p>
            <a:r>
              <a:rPr lang="en-US" sz="1600" b="1" dirty="0"/>
              <a:t>Description: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Used </a:t>
            </a:r>
            <a:r>
              <a:rPr lang="en-US" sz="1600" b="1" dirty="0"/>
              <a:t>SHAP (Shapley Additive Explanations)</a:t>
            </a:r>
            <a:r>
              <a:rPr lang="en-US" sz="1600" dirty="0"/>
              <a:t> to interpret model outputs.</a:t>
            </a:r>
            <a:br>
              <a:rPr lang="en-US" sz="1600" dirty="0"/>
            </a:br>
            <a:r>
              <a:rPr lang="en-US" sz="1600" dirty="0"/>
              <a:t>Top influencing features: </a:t>
            </a:r>
            <a:r>
              <a:rPr lang="en-US" sz="1600" i="1" dirty="0"/>
              <a:t>SDG 12 Score, Recycling Rate, Population Density.</a:t>
            </a:r>
            <a:endParaRPr lang="en-US" sz="1600" dirty="0"/>
          </a:p>
          <a:p>
            <a:endParaRPr lang="en-IN" sz="2400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139595"/>
          </a:xfrm>
        </p:spPr>
        <p:txBody>
          <a:bodyPr/>
          <a:lstStyle/>
          <a:p>
            <a:r>
              <a:rPr lang="en-IN" sz="2400" b="1" dirty="0"/>
              <a:t>Phase 8: Visualization &amp; </a:t>
            </a:r>
            <a:r>
              <a:rPr lang="en-IN" sz="2400" b="1" dirty="0" smtClean="0"/>
              <a:t>Evaluation</a:t>
            </a:r>
          </a:p>
          <a:p>
            <a:endParaRPr lang="en-IN" sz="2400" b="1" dirty="0"/>
          </a:p>
          <a:p>
            <a:r>
              <a:rPr lang="en-IN" sz="1100" dirty="0" err="1"/>
              <a:t>sns.heatmap</a:t>
            </a:r>
            <a:r>
              <a:rPr lang="en-IN" sz="1100" dirty="0"/>
              <a:t>(</a:t>
            </a:r>
            <a:r>
              <a:rPr lang="en-IN" sz="1100" dirty="0" err="1"/>
              <a:t>confusion_matrix</a:t>
            </a:r>
            <a:r>
              <a:rPr lang="en-IN" sz="1100" dirty="0"/>
              <a:t>(</a:t>
            </a:r>
            <a:r>
              <a:rPr lang="en-IN" sz="1100" dirty="0" err="1"/>
              <a:t>y_test</a:t>
            </a:r>
            <a:r>
              <a:rPr lang="en-IN" sz="1100" dirty="0"/>
              <a:t>, </a:t>
            </a:r>
            <a:r>
              <a:rPr lang="en-IN" sz="1100" dirty="0" err="1"/>
              <a:t>y_pred_labels</a:t>
            </a:r>
            <a:r>
              <a:rPr lang="en-IN" sz="1100" dirty="0"/>
              <a:t>), </a:t>
            </a:r>
            <a:r>
              <a:rPr lang="en-IN" sz="1100" dirty="0" err="1"/>
              <a:t>annot</a:t>
            </a:r>
            <a:r>
              <a:rPr lang="en-IN" sz="1100" dirty="0"/>
              <a:t>=True, </a:t>
            </a:r>
            <a:r>
              <a:rPr lang="en-IN" sz="1100" dirty="0" err="1"/>
              <a:t>cmap</a:t>
            </a:r>
            <a:r>
              <a:rPr lang="en-IN" sz="1100" dirty="0"/>
              <a:t>='Blues')</a:t>
            </a:r>
          </a:p>
          <a:p>
            <a:r>
              <a:rPr lang="en-IN" sz="1100" dirty="0" err="1"/>
              <a:t>plt.title</a:t>
            </a:r>
            <a:r>
              <a:rPr lang="en-IN" sz="1100" dirty="0"/>
              <a:t>("Confusion Matrix: Dropout MLP</a:t>
            </a:r>
            <a:r>
              <a:rPr lang="en-IN" sz="1100" dirty="0" smtClean="0"/>
              <a:t>")</a:t>
            </a:r>
          </a:p>
          <a:p>
            <a:endParaRPr lang="en-IN" sz="1100" dirty="0"/>
          </a:p>
          <a:p>
            <a:endParaRPr lang="en-IN" sz="1100" dirty="0" smtClean="0"/>
          </a:p>
          <a:p>
            <a:r>
              <a:rPr lang="en-US" sz="1600" b="1" dirty="0"/>
              <a:t>Description: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Visualized classification results showing </a:t>
            </a:r>
            <a:r>
              <a:rPr lang="en-US" sz="1600" b="1" dirty="0"/>
              <a:t>perfect labeling</a:t>
            </a:r>
            <a:r>
              <a:rPr lang="en-US" sz="1600" dirty="0"/>
              <a:t> across CE categories</a:t>
            </a:r>
            <a:r>
              <a:rPr lang="en-US" sz="1100" dirty="0"/>
              <a:t>.</a:t>
            </a:r>
            <a:endParaRPr lang="en-IN" sz="1100" dirty="0"/>
          </a:p>
          <a:p>
            <a:endParaRPr lang="en-IN" sz="2400" b="1" dirty="0" smtClean="0"/>
          </a:p>
          <a:p>
            <a:r>
              <a:rPr lang="en-IN" sz="1100" dirty="0" err="1"/>
              <a:t>silhouette_avg</a:t>
            </a:r>
            <a:r>
              <a:rPr lang="en-IN" sz="1100" dirty="0"/>
              <a:t> = </a:t>
            </a:r>
            <a:r>
              <a:rPr lang="en-IN" sz="1100" dirty="0" err="1"/>
              <a:t>silhouette_score</a:t>
            </a:r>
            <a:r>
              <a:rPr lang="en-IN" sz="1100" dirty="0"/>
              <a:t>(</a:t>
            </a:r>
            <a:r>
              <a:rPr lang="en-IN" sz="1100" dirty="0" err="1"/>
              <a:t>X_encoded</a:t>
            </a:r>
            <a:r>
              <a:rPr lang="en-IN" sz="1100" dirty="0"/>
              <a:t>, clusters)</a:t>
            </a:r>
          </a:p>
          <a:p>
            <a:r>
              <a:rPr lang="en-IN" sz="1100" dirty="0"/>
              <a:t>print("Silhouette Score:", </a:t>
            </a:r>
            <a:r>
              <a:rPr lang="en-IN" sz="1100" dirty="0" err="1"/>
              <a:t>silhouette_avg</a:t>
            </a:r>
            <a:r>
              <a:rPr lang="en-IN" sz="1100" dirty="0" smtClean="0"/>
              <a:t>)</a:t>
            </a:r>
          </a:p>
          <a:p>
            <a:endParaRPr lang="en-IN" sz="1100" dirty="0"/>
          </a:p>
          <a:p>
            <a:r>
              <a:rPr lang="en-US" sz="1600" b="1" dirty="0"/>
              <a:t>Description: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Evaluated clustering quality (</a:t>
            </a:r>
            <a:r>
              <a:rPr lang="en-US" sz="1600" b="1" dirty="0"/>
              <a:t>Silhouette = 0.56</a:t>
            </a:r>
            <a:r>
              <a:rPr lang="en-US" sz="1600" dirty="0"/>
              <a:t>) confirming meaningful city grouping</a:t>
            </a:r>
            <a:r>
              <a:rPr lang="en-US" sz="1100" dirty="0"/>
              <a:t>.</a:t>
            </a:r>
            <a:endParaRPr lang="en-IN" sz="1100" dirty="0"/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6888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HP PC\Pictures\Screenshots\Screenshot (24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635" y="838200"/>
            <a:ext cx="11125200" cy="563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284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HP PC\Pictures\Screenshots\Screenshot (25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14399"/>
            <a:ext cx="11201400" cy="537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2626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and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553997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Dropout-based Multilayer Perceptron (MLP)</a:t>
            </a:r>
            <a:r>
              <a:rPr lang="en-US" dirty="0"/>
              <a:t> recorded the </a:t>
            </a:r>
            <a:r>
              <a:rPr lang="en-US" b="1" dirty="0"/>
              <a:t>highest performance with 97.86% accuracy</a:t>
            </a:r>
            <a:r>
              <a:rPr lang="en-US" dirty="0"/>
              <a:t>, outperforming all other tested models.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Performance metrics indicated </a:t>
            </a:r>
            <a:r>
              <a:rPr lang="en-US" b="1" dirty="0"/>
              <a:t>high precision, recall and F1-score</a:t>
            </a:r>
            <a:r>
              <a:rPr lang="en-US" dirty="0"/>
              <a:t>, demonstrating the model’s robustness in predicting the correct sustainability action for each city.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confusion matrix showed zero misclassification</a:t>
            </a:r>
            <a:r>
              <a:rPr lang="en-US" dirty="0"/>
              <a:t>, validating the stability and generalization capability of the trained model on unseen city datasets.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LSTM forecasting model successfully predicted future waste trends</a:t>
            </a:r>
            <a:r>
              <a:rPr lang="en-US" dirty="0"/>
              <a:t>, capturing seasonal patterns and increasing landfill pressure in many Tier-1 and Tier-2 cities.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autoencoder-based clustering module created well-separated city clusters</a:t>
            </a:r>
            <a:r>
              <a:rPr lang="en-US" dirty="0"/>
              <a:t>, enabling high-recycling and low-recycling urban regions to be accurately differentiated for policy decision-making.</a:t>
            </a:r>
          </a:p>
          <a:p>
            <a:endParaRPr lang="en-US" dirty="0" smtClean="0"/>
          </a:p>
          <a:p>
            <a:endParaRPr lang="en-IN" dirty="0"/>
          </a:p>
        </p:txBody>
      </p:sp>
      <p:pic>
        <p:nvPicPr>
          <p:cNvPr id="7" name="Picture 2" descr="C:\Users\HP PC\Pictures\confusion.png"/>
          <p:cNvPicPr>
            <a:picLocks noGrp="1" noChangeAspect="1" noChangeArrowheads="1"/>
          </p:cNvPicPr>
          <p:nvPr>
            <p:ph sz="half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914837"/>
            <a:ext cx="4114808" cy="3611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7239000" y="1295400"/>
            <a:ext cx="23485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IN" b="1" dirty="0"/>
          </a:p>
          <a:p>
            <a:r>
              <a:rPr lang="en-IN" b="1" dirty="0" smtClean="0"/>
              <a:t>          Confusion </a:t>
            </a:r>
            <a:r>
              <a:rPr lang="en-IN" b="1" dirty="0"/>
              <a:t>matrix</a:t>
            </a:r>
          </a:p>
        </p:txBody>
      </p:sp>
    </p:spTree>
    <p:extLst>
      <p:ext uri="{BB962C8B-B14F-4D97-AF65-F5344CB8AC3E}">
        <p14:creationId xmlns:p14="http://schemas.microsoft.com/office/powerpoint/2010/main" val="183988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Results and Analysis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sz="half" idx="2"/>
          </p:nvPr>
        </p:nvSpPr>
        <p:spPr>
          <a:xfrm>
            <a:off x="304800" y="1295400"/>
            <a:ext cx="5715000" cy="5416868"/>
          </a:xfrm>
        </p:spPr>
        <p:txBody>
          <a:bodyPr/>
          <a:lstStyle/>
          <a:p>
            <a:r>
              <a:rPr lang="en-IN" sz="2400" b="1" dirty="0" smtClean="0"/>
              <a:t>   Model </a:t>
            </a:r>
            <a:r>
              <a:rPr lang="en-IN" sz="2400" b="1" dirty="0"/>
              <a:t>Evaluation and </a:t>
            </a:r>
            <a:r>
              <a:rPr lang="en-IN" sz="2400" b="1" dirty="0" smtClean="0"/>
              <a:t>Performance:</a:t>
            </a:r>
          </a:p>
          <a:p>
            <a:endParaRPr lang="en-IN" sz="2400" b="1" dirty="0"/>
          </a:p>
          <a:p>
            <a:endParaRPr lang="en-IN" sz="2400" b="1" dirty="0" smtClean="0"/>
          </a:p>
          <a:p>
            <a:endParaRPr lang="en-IN" sz="2400" b="1" dirty="0"/>
          </a:p>
          <a:p>
            <a:endParaRPr lang="en-IN" sz="2400" b="1" dirty="0" smtClean="0"/>
          </a:p>
          <a:p>
            <a:endParaRPr lang="en-IN" sz="2400" b="1" dirty="0"/>
          </a:p>
          <a:p>
            <a:endParaRPr lang="en-IN" sz="2400" b="1" dirty="0" smtClean="0"/>
          </a:p>
          <a:p>
            <a:r>
              <a:rPr lang="en-IN" sz="2400" b="1" dirty="0" smtClean="0"/>
              <a:t>   </a:t>
            </a:r>
            <a:r>
              <a:rPr lang="en-IN" sz="2000" b="1" dirty="0" smtClean="0"/>
              <a:t>Cluster </a:t>
            </a:r>
            <a:r>
              <a:rPr lang="en-IN" sz="2000" b="1" dirty="0"/>
              <a:t>Mapping</a:t>
            </a:r>
            <a:r>
              <a:rPr lang="en-IN" sz="2400" b="1" dirty="0"/>
              <a:t>:</a:t>
            </a:r>
          </a:p>
          <a:p>
            <a:endParaRPr lang="en-IN" sz="2400" b="1" dirty="0" smtClean="0"/>
          </a:p>
          <a:p>
            <a:endParaRPr lang="en-IN" sz="2400" b="1" dirty="0"/>
          </a:p>
          <a:p>
            <a:endParaRPr lang="en-IN" sz="2400" b="1" dirty="0" smtClean="0"/>
          </a:p>
          <a:p>
            <a:endParaRPr lang="en-IN" sz="2400" b="1" dirty="0" smtClean="0"/>
          </a:p>
          <a:p>
            <a:endParaRPr lang="en-IN" sz="2400" b="1" dirty="0"/>
          </a:p>
          <a:p>
            <a:endParaRPr lang="en-US" sz="2400" b="1" dirty="0" smtClean="0"/>
          </a:p>
          <a:p>
            <a:r>
              <a:rPr lang="en-US" sz="1600" b="1" dirty="0" smtClean="0"/>
              <a:t>                 </a:t>
            </a:r>
            <a:endParaRPr lang="en-US" sz="1600" b="1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3"/>
          </p:nvPr>
        </p:nvSpPr>
        <p:spPr>
          <a:xfrm>
            <a:off x="6248400" y="1600200"/>
            <a:ext cx="5303520" cy="2646878"/>
          </a:xfrm>
        </p:spPr>
        <p:txBody>
          <a:bodyPr/>
          <a:lstStyle/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r>
              <a:rPr lang="en-IN" dirty="0" smtClean="0"/>
              <a:t>                               </a:t>
            </a:r>
            <a:endParaRPr lang="en-IN" b="1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809145"/>
              </p:ext>
            </p:extLst>
          </p:nvPr>
        </p:nvGraphicFramePr>
        <p:xfrm>
          <a:off x="457200" y="1828800"/>
          <a:ext cx="4876800" cy="1850382"/>
        </p:xfrm>
        <a:graphic>
          <a:graphicData uri="http://schemas.openxmlformats.org/drawingml/2006/table">
            <a:tbl>
              <a:tblPr/>
              <a:tblGrid>
                <a:gridCol w="1143000"/>
                <a:gridCol w="914400"/>
                <a:gridCol w="914400"/>
                <a:gridCol w="1143000"/>
                <a:gridCol w="762000"/>
              </a:tblGrid>
              <a:tr h="152400">
                <a:tc>
                  <a:txBody>
                    <a:bodyPr/>
                    <a:lstStyle/>
                    <a:p>
                      <a:r>
                        <a:rPr lang="en-IN" sz="1000" b="1" dirty="0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dirty="0"/>
                        <a:t>Accuracy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dirty="0"/>
                        <a:t>F1-Score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dirty="0"/>
                        <a:t>Precision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dirty="0"/>
                        <a:t>Recall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3723">
                <a:tc>
                  <a:txBody>
                    <a:bodyPr/>
                    <a:lstStyle/>
                    <a:p>
                      <a:r>
                        <a:rPr lang="en-IN" sz="1000" b="1" dirty="0"/>
                        <a:t>MLP 1-Layer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91.43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6960">
                <a:tc>
                  <a:txBody>
                    <a:bodyPr/>
                    <a:lstStyle/>
                    <a:p>
                      <a:r>
                        <a:rPr lang="en-IN" sz="1000" b="1" dirty="0"/>
                        <a:t>MLP 2-Layer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91.43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3723">
                <a:tc>
                  <a:txBody>
                    <a:bodyPr/>
                    <a:lstStyle/>
                    <a:p>
                      <a:r>
                        <a:rPr lang="en-IN" sz="1000" b="1" dirty="0"/>
                        <a:t>Dropout MLP</a:t>
                      </a:r>
                      <a:endParaRPr lang="en-IN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dirty="0"/>
                        <a:t>97.86</a:t>
                      </a:r>
                      <a:endParaRPr lang="en-IN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dirty="0"/>
                        <a:t>98</a:t>
                      </a:r>
                      <a:endParaRPr lang="en-IN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dirty="0"/>
                        <a:t>98</a:t>
                      </a:r>
                      <a:endParaRPr lang="en-IN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dirty="0"/>
                        <a:t>98</a:t>
                      </a:r>
                      <a:endParaRPr lang="en-IN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8296">
                <a:tc>
                  <a:txBody>
                    <a:bodyPr/>
                    <a:lstStyle/>
                    <a:p>
                      <a:r>
                        <a:rPr lang="en-IN" sz="1000" b="1" dirty="0"/>
                        <a:t>BatchNorm MLP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87.14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r>
                        <a:rPr lang="en-IN" sz="1000" b="1" dirty="0"/>
                        <a:t>WideDeep MLP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93.57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/>
                        <a:t>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145978"/>
              </p:ext>
            </p:extLst>
          </p:nvPr>
        </p:nvGraphicFramePr>
        <p:xfrm>
          <a:off x="381000" y="4419599"/>
          <a:ext cx="5181600" cy="21336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1066800"/>
                <a:gridCol w="3352800"/>
              </a:tblGrid>
              <a:tr h="394869"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Cluster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CE 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Description</a:t>
                      </a:r>
                    </a:p>
                  </a:txBody>
                  <a:tcPr anchor="ctr"/>
                </a:tc>
              </a:tr>
              <a:tr h="519532"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/>
                        <a:t>Rethink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High waste generation, low recycling rate.</a:t>
                      </a:r>
                    </a:p>
                  </a:txBody>
                  <a:tcPr anchor="ctr"/>
                </a:tc>
              </a:tr>
              <a:tr h="653598"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/>
                        <a:t>Redesign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Moderate waste, emerging recycling improvements.</a:t>
                      </a:r>
                    </a:p>
                  </a:txBody>
                  <a:tcPr anchor="ctr"/>
                </a:tc>
              </a:tr>
              <a:tr h="565602"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/>
                        <a:t>Reuse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Low waste, high recycling and SDG 12 score.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5" name="Picture 1" descr="C:\Users\HP PC\Pictures\sha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581400"/>
            <a:ext cx="44196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6096000" y="1524000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/>
              <a:t>SHAP Explainability Results:</a:t>
            </a:r>
            <a:endParaRPr lang="en-US" sz="1600" dirty="0"/>
          </a:p>
          <a:p>
            <a:r>
              <a:rPr lang="en-US" sz="1600" dirty="0" smtClean="0"/>
              <a:t>Most </a:t>
            </a:r>
            <a:r>
              <a:rPr lang="en-US" sz="1600" dirty="0"/>
              <a:t>influential features affecting CE Action classification:</a:t>
            </a:r>
          </a:p>
          <a:p>
            <a:pPr lvl="1"/>
            <a:r>
              <a:rPr lang="en-US" sz="1600" b="1" dirty="0"/>
              <a:t>SDG 12 Score</a:t>
            </a:r>
            <a:endParaRPr lang="en-US" sz="1600" dirty="0"/>
          </a:p>
          <a:p>
            <a:pPr lvl="1"/>
            <a:r>
              <a:rPr lang="en-US" sz="1600" b="1" dirty="0"/>
              <a:t>Recycling Rate (%)</a:t>
            </a:r>
            <a:endParaRPr lang="en-US" sz="1600" dirty="0"/>
          </a:p>
          <a:p>
            <a:pPr lvl="1"/>
            <a:r>
              <a:rPr lang="en-US" sz="1600" b="1" dirty="0"/>
              <a:t>Population Density</a:t>
            </a:r>
            <a:endParaRPr lang="en-US" sz="1600" dirty="0"/>
          </a:p>
          <a:p>
            <a:pPr lvl="1"/>
            <a:r>
              <a:rPr lang="en-US" sz="1600" b="1" dirty="0"/>
              <a:t>Circular Score</a:t>
            </a:r>
            <a:endParaRPr lang="en-US" sz="1600" dirty="0"/>
          </a:p>
          <a:p>
            <a:r>
              <a:rPr lang="en-US" sz="1600" dirty="0"/>
              <a:t>SHAP summary plots confirmed the model’s interpretability and fairness in prediction.</a:t>
            </a:r>
          </a:p>
        </p:txBody>
      </p:sp>
    </p:spTree>
    <p:extLst>
      <p:ext uri="{BB962C8B-B14F-4D97-AF65-F5344CB8AC3E}">
        <p14:creationId xmlns:p14="http://schemas.microsoft.com/office/powerpoint/2010/main" val="2580749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699" y="529843"/>
            <a:ext cx="6578600" cy="613157"/>
          </a:xfrm>
        </p:spPr>
        <p:txBody>
          <a:bodyPr/>
          <a:lstStyle/>
          <a:p>
            <a:r>
              <a:rPr lang="en-IN" dirty="0" smtClean="0"/>
              <a:t>Results &amp; Analysis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575" y="1336357"/>
            <a:ext cx="10356850" cy="5878532"/>
          </a:xfrm>
        </p:spPr>
        <p:txBody>
          <a:bodyPr/>
          <a:lstStyle/>
          <a:p>
            <a:r>
              <a:rPr lang="en-US" b="1" dirty="0" smtClean="0"/>
              <a:t> </a:t>
            </a:r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r>
              <a:rPr lang="en-US" b="1" dirty="0" smtClean="0"/>
              <a:t>                                                                   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                                                               Training </a:t>
            </a:r>
            <a:r>
              <a:rPr lang="en-US" b="1" dirty="0" err="1" smtClean="0"/>
              <a:t>Vs</a:t>
            </a:r>
            <a:r>
              <a:rPr lang="en-US" b="1" dirty="0" smtClean="0"/>
              <a:t> Testing Graph</a:t>
            </a:r>
          </a:p>
          <a:p>
            <a:endParaRPr lang="en-US" b="1" dirty="0"/>
          </a:p>
          <a:p>
            <a:r>
              <a:rPr lang="en-US" b="1" dirty="0" smtClean="0"/>
              <a:t>Improvements </a:t>
            </a:r>
            <a:r>
              <a:rPr lang="en-US" b="1" dirty="0"/>
              <a:t>Compared to Previous </a:t>
            </a:r>
            <a:r>
              <a:rPr lang="en-US" b="1" dirty="0" smtClean="0"/>
              <a:t>Works:</a:t>
            </a:r>
            <a:endParaRPr lang="en-US" b="1" dirty="0"/>
          </a:p>
          <a:p>
            <a:r>
              <a:rPr lang="en-US" sz="1600" dirty="0"/>
              <a:t>The proposed framework improves over earlier research in several ways:</a:t>
            </a:r>
          </a:p>
          <a:p>
            <a:r>
              <a:rPr lang="en-US" sz="1600" dirty="0" smtClean="0"/>
              <a:t> </a:t>
            </a:r>
            <a:r>
              <a:rPr lang="en-US" sz="1600" b="1" dirty="0"/>
              <a:t>Introduces Circular Economy Recommendation Layer</a:t>
            </a:r>
            <a:r>
              <a:rPr lang="en-US" sz="1600" dirty="0"/>
              <a:t> rather than only waste forecasting/prediction.</a:t>
            </a:r>
            <a:br>
              <a:rPr lang="en-US" sz="1600" dirty="0"/>
            </a:br>
            <a:r>
              <a:rPr lang="en-US" sz="1600" dirty="0" smtClean="0"/>
              <a:t> </a:t>
            </a:r>
            <a:r>
              <a:rPr lang="en-US" sz="1600" b="1" dirty="0"/>
              <a:t>Uses Autoencoder + MLP hybrid architecture</a:t>
            </a:r>
            <a:r>
              <a:rPr lang="en-US" sz="1600" dirty="0"/>
              <a:t>, while previous works focused only on standalone ML models.</a:t>
            </a:r>
            <a:br>
              <a:rPr lang="en-US" sz="1600" dirty="0"/>
            </a:br>
            <a:r>
              <a:rPr lang="en-US" sz="1600" b="1" dirty="0" smtClean="0"/>
              <a:t>Implements </a:t>
            </a:r>
            <a:r>
              <a:rPr lang="en-US" sz="1600" b="1" dirty="0"/>
              <a:t>model explainability using SHAP</a:t>
            </a:r>
            <a:r>
              <a:rPr lang="en-US" sz="1600" dirty="0"/>
              <a:t>, ensuring transparency (rarely addressed in earlier works).</a:t>
            </a:r>
            <a:br>
              <a:rPr lang="en-US" sz="1600" dirty="0"/>
            </a:br>
            <a:r>
              <a:rPr lang="en-US" sz="1600" dirty="0" smtClean="0"/>
              <a:t> </a:t>
            </a:r>
            <a:r>
              <a:rPr lang="en-US" sz="1600" b="1" dirty="0"/>
              <a:t>Uses 59-city real urban MSW dataset</a:t>
            </a:r>
            <a:r>
              <a:rPr lang="en-US" sz="1600" dirty="0"/>
              <a:t>, while past works relied on small or synthetic datasets.</a:t>
            </a:r>
            <a:br>
              <a:rPr lang="en-US" sz="1600" dirty="0"/>
            </a:br>
            <a:r>
              <a:rPr lang="en-US" sz="1600" b="1" dirty="0" smtClean="0"/>
              <a:t>Achieves </a:t>
            </a:r>
            <a:r>
              <a:rPr lang="en-US" sz="1600" b="1" dirty="0"/>
              <a:t>97.86% accuracy</a:t>
            </a:r>
            <a:r>
              <a:rPr lang="en-US" sz="1600" dirty="0"/>
              <a:t>, surpassing earlier waste-analysis systems with lower accuracy and no CE-action mapping</a:t>
            </a:r>
            <a:r>
              <a:rPr lang="en-US" sz="1600" dirty="0" smtClean="0"/>
              <a:t>.</a:t>
            </a:r>
          </a:p>
          <a:p>
            <a:r>
              <a:rPr lang="en-US" sz="1600" dirty="0" smtClean="0"/>
              <a:t> </a:t>
            </a:r>
            <a:r>
              <a:rPr lang="en-US" sz="1600" b="1" dirty="0"/>
              <a:t>Supports policy-making with city-specific actions (Rethink / Redesign / Reuse)</a:t>
            </a:r>
            <a:r>
              <a:rPr lang="en-US" sz="1600" dirty="0"/>
              <a:t> rather than giving generic insights.</a:t>
            </a:r>
          </a:p>
          <a:p>
            <a:endParaRPr lang="en-IN" dirty="0" smtClean="0"/>
          </a:p>
          <a:p>
            <a:endParaRPr lang="en-IN" dirty="0"/>
          </a:p>
        </p:txBody>
      </p:sp>
      <p:pic>
        <p:nvPicPr>
          <p:cNvPr id="4" name="Picture 1" descr="C:\Users\HP PC\Pictures\trianing vs valida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447800"/>
            <a:ext cx="80772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22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3280" y="529843"/>
            <a:ext cx="930656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pc="20" dirty="0" smtClean="0"/>
              <a:t>                </a:t>
            </a:r>
            <a:r>
              <a:rPr spc="20" dirty="0" smtClean="0"/>
              <a:t>C</a:t>
            </a:r>
            <a:r>
              <a:rPr lang="en-IN" spc="20" dirty="0" smtClean="0"/>
              <a:t>onclusion </a:t>
            </a:r>
            <a:endParaRPr spc="25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 smtClean="0"/>
              <a:t>05-12-2025</a:t>
            </a:r>
            <a:endParaRPr spc="5" dirty="0"/>
          </a:p>
        </p:txBody>
      </p:sp>
      <p:sp>
        <p:nvSpPr>
          <p:cNvPr id="5" name="object 5"/>
          <p:cNvSpPr txBox="1"/>
          <p:nvPr/>
        </p:nvSpPr>
        <p:spPr>
          <a:xfrm>
            <a:off x="3886200" y="6451049"/>
            <a:ext cx="129832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3765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CB7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828800"/>
            <a:ext cx="8836025" cy="79252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lang="en-IN" sz="4500" dirty="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9DC4A0A2-9D3F-B7E9-6CA7-0DAE36D65ACB}"/>
              </a:ext>
            </a:extLst>
          </p:cNvPr>
          <p:cNvSpPr txBox="1"/>
          <p:nvPr/>
        </p:nvSpPr>
        <p:spPr>
          <a:xfrm>
            <a:off x="859627" y="1143000"/>
            <a:ext cx="1013872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 smtClean="0"/>
          </a:p>
          <a:p>
            <a:r>
              <a:rPr lang="en-US" sz="2000" dirty="0" smtClean="0"/>
              <a:t>1.SmartWasteNet </a:t>
            </a:r>
            <a:r>
              <a:rPr lang="en-US" sz="2000" dirty="0"/>
              <a:t>successfully bridges the gap between AI and CE by combining </a:t>
            </a:r>
            <a:r>
              <a:rPr lang="en-US" sz="2000" b="1" dirty="0"/>
              <a:t>LSTM forecasting</a:t>
            </a:r>
            <a:r>
              <a:rPr lang="en-US" sz="2000" dirty="0"/>
              <a:t>, </a:t>
            </a:r>
            <a:r>
              <a:rPr lang="en-US" sz="2000" b="1" dirty="0"/>
              <a:t>Autoencoder clustering</a:t>
            </a:r>
            <a:r>
              <a:rPr lang="en-US" sz="2000" dirty="0"/>
              <a:t>, and </a:t>
            </a:r>
            <a:r>
              <a:rPr lang="en-US" sz="2000" b="1" dirty="0"/>
              <a:t>Explainable MLP classification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 smtClean="0"/>
              <a:t>2.It </a:t>
            </a:r>
            <a:r>
              <a:rPr lang="en-US" sz="2000" dirty="0"/>
              <a:t>provides a </a:t>
            </a:r>
            <a:r>
              <a:rPr lang="en-US" sz="2000" b="1" dirty="0"/>
              <a:t>scalable, explainable decision-support system</a:t>
            </a:r>
            <a:r>
              <a:rPr lang="en-US" sz="2000" dirty="0"/>
              <a:t> for sustainable waste management under SDG 12.</a:t>
            </a:r>
            <a:br>
              <a:rPr lang="en-US" sz="2000" dirty="0"/>
            </a:br>
            <a:r>
              <a:rPr lang="en-US" sz="2000" dirty="0" smtClean="0"/>
              <a:t>3.The </a:t>
            </a:r>
            <a:r>
              <a:rPr lang="en-US" sz="2000" dirty="0"/>
              <a:t>framework achieved ~98 % accuracy and offers actionable </a:t>
            </a:r>
            <a:r>
              <a:rPr lang="en-US" sz="2000" i="1" dirty="0"/>
              <a:t>Rethink-Redesign-Reuse</a:t>
            </a:r>
            <a:r>
              <a:rPr lang="en-US" sz="2000" dirty="0"/>
              <a:t> recommendations for each city.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endParaRPr lang="en-IN" sz="32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32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32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32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4400" b="1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       Future Scope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575" y="1981200"/>
            <a:ext cx="10356850" cy="1538883"/>
          </a:xfrm>
        </p:spPr>
        <p:txBody>
          <a:bodyPr/>
          <a:lstStyle/>
          <a:p>
            <a:r>
              <a:rPr lang="en-US" sz="2000" dirty="0"/>
              <a:t>1.Extend to </a:t>
            </a:r>
            <a:r>
              <a:rPr lang="en-US" sz="2000" b="1" dirty="0"/>
              <a:t>real-time smart-city dashboards</a:t>
            </a:r>
            <a:r>
              <a:rPr lang="en-US" sz="2000" dirty="0"/>
              <a:t>.</a:t>
            </a:r>
          </a:p>
          <a:p>
            <a:r>
              <a:rPr lang="en-US" sz="2000" dirty="0"/>
              <a:t>2.Integrate </a:t>
            </a:r>
            <a:r>
              <a:rPr lang="en-US" sz="2000" b="1" dirty="0" err="1"/>
              <a:t>IoT</a:t>
            </a:r>
            <a:r>
              <a:rPr lang="en-US" sz="2000" b="1" dirty="0"/>
              <a:t> sensor waste-collection data</a:t>
            </a:r>
            <a:r>
              <a:rPr lang="en-US" sz="2000" dirty="0"/>
              <a:t>.</a:t>
            </a:r>
          </a:p>
          <a:p>
            <a:r>
              <a:rPr lang="en-US" sz="2000" dirty="0"/>
              <a:t>3.Apply </a:t>
            </a:r>
            <a:r>
              <a:rPr lang="en-US" sz="2000" b="1" dirty="0"/>
              <a:t>transfer learning</a:t>
            </a:r>
            <a:r>
              <a:rPr lang="en-US" sz="2000" dirty="0"/>
              <a:t> to new regions or countries.</a:t>
            </a:r>
          </a:p>
          <a:p>
            <a:r>
              <a:rPr lang="en-US" sz="2000" dirty="0"/>
              <a:t>4.Deploy via </a:t>
            </a:r>
            <a:r>
              <a:rPr lang="en-US" sz="2000" b="1" dirty="0"/>
              <a:t>Streamlit/Dash web app</a:t>
            </a:r>
            <a:r>
              <a:rPr lang="en-US" sz="2000" dirty="0"/>
              <a:t> for policymakers.</a:t>
            </a:r>
          </a:p>
          <a:p>
            <a:r>
              <a:rPr lang="en-US" sz="2000" dirty="0"/>
              <a:t>5.Integrate other SDGs (11 &amp; 13) for holistic sustainability analysis.</a:t>
            </a:r>
          </a:p>
        </p:txBody>
      </p:sp>
    </p:spTree>
    <p:extLst>
      <p:ext uri="{BB962C8B-B14F-4D97-AF65-F5344CB8AC3E}">
        <p14:creationId xmlns:p14="http://schemas.microsoft.com/office/powerpoint/2010/main" val="71220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7910" y="529843"/>
            <a:ext cx="380746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REFERENCES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38600" y="6451049"/>
            <a:ext cx="114592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2" y="6451049"/>
            <a:ext cx="92805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CB7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1214981"/>
            <a:ext cx="10515599" cy="563295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 smtClean="0"/>
              <a:t>Md</a:t>
            </a:r>
            <a:r>
              <a:rPr lang="en-US" sz="2000" dirty="0"/>
              <a:t>. R. </a:t>
            </a:r>
            <a:r>
              <a:rPr lang="en-US" sz="2000" dirty="0" err="1"/>
              <a:t>Hasan</a:t>
            </a:r>
            <a:r>
              <a:rPr lang="en-US" sz="2000" dirty="0"/>
              <a:t> and M. R. </a:t>
            </a:r>
            <a:r>
              <a:rPr lang="en-US" sz="2000" dirty="0" err="1"/>
              <a:t>Karim</a:t>
            </a:r>
            <a:r>
              <a:rPr lang="en-US" sz="2000" dirty="0"/>
              <a:t> et al., "A Comparative Analysis of Forecasting Algorithms for Predicting Municipal Solid Waste Generation in Chittagong City," Elsevier, 2025</a:t>
            </a:r>
            <a:r>
              <a:rPr lang="en-US" sz="2000" dirty="0" smtClean="0"/>
              <a:t>.</a:t>
            </a:r>
          </a:p>
          <a:p>
            <a:pPr marL="457200" indent="-457200">
              <a:buAutoNum type="arabicPeriod"/>
            </a:pPr>
            <a:endParaRPr lang="en-IN" sz="2000" dirty="0" smtClean="0"/>
          </a:p>
          <a:p>
            <a:pPr marL="457200" indent="-457200"/>
            <a:r>
              <a:rPr lang="en-US" sz="2000" dirty="0" smtClean="0"/>
              <a:t>2.    I. Kayan and N. A. Oz et al., "Integrating response surface methodology and decision tree algorithms for valorization of cheese whey wastewater," Elsevier, 2025.</a:t>
            </a:r>
          </a:p>
          <a:p>
            <a:pPr marL="457200" indent="-457200"/>
            <a:endParaRPr lang="en-IN" sz="2000" dirty="0"/>
          </a:p>
          <a:p>
            <a:pPr marL="457200" indent="-457200"/>
            <a:r>
              <a:rPr lang="en-US" sz="2000" dirty="0" smtClean="0"/>
              <a:t>3.    C</a:t>
            </a:r>
            <a:r>
              <a:rPr lang="en-US" sz="2000" dirty="0"/>
              <a:t>. Bosco, K. N. </a:t>
            </a:r>
            <a:r>
              <a:rPr lang="en-US" sz="2000" dirty="0" err="1"/>
              <a:t>Seglem</a:t>
            </a:r>
            <a:r>
              <a:rPr lang="en-US" sz="2000" dirty="0"/>
              <a:t>, E. </a:t>
            </a:r>
            <a:r>
              <a:rPr lang="en-US" sz="2000" dirty="0" err="1"/>
              <a:t>Sivertsen</a:t>
            </a:r>
            <a:r>
              <a:rPr lang="en-US" sz="2000" dirty="0"/>
              <a:t> et al., "Developing a framework to assess water smartness </a:t>
            </a:r>
            <a:r>
              <a:rPr lang="en-US" sz="2000" dirty="0" smtClean="0"/>
              <a:t>and </a:t>
            </a:r>
            <a:r>
              <a:rPr lang="en-US" sz="2000" dirty="0"/>
              <a:t>sustainability of circular economy solutions in the water sector," Elsevier, 2025</a:t>
            </a:r>
            <a:r>
              <a:rPr lang="en-US" sz="2000" dirty="0" smtClean="0"/>
              <a:t>.</a:t>
            </a:r>
          </a:p>
          <a:p>
            <a:endParaRPr lang="en-IN" sz="2000" dirty="0"/>
          </a:p>
          <a:p>
            <a:pPr marL="457200" indent="-457200">
              <a:buAutoNum type="arabicPeriod" startAt="4"/>
            </a:pPr>
            <a:r>
              <a:rPr lang="en-US" sz="2000" dirty="0" smtClean="0"/>
              <a:t>M</a:t>
            </a:r>
            <a:r>
              <a:rPr lang="en-US" sz="2000" dirty="0"/>
              <a:t>. M. Jayalath, H. N. </a:t>
            </a:r>
            <a:r>
              <a:rPr lang="en-US" sz="2000" dirty="0" err="1"/>
              <a:t>Perera</a:t>
            </a:r>
            <a:r>
              <a:rPr lang="en-US" sz="2000" dirty="0"/>
              <a:t>, and R. </a:t>
            </a:r>
            <a:r>
              <a:rPr lang="en-US" sz="2000" dirty="0" err="1"/>
              <a:t>Jayasinghe</a:t>
            </a:r>
            <a:r>
              <a:rPr lang="en-US" sz="2000" dirty="0"/>
              <a:t>, "Harvesting sustainability: Transforming traditional </a:t>
            </a:r>
            <a:r>
              <a:rPr lang="en-US" sz="2000" dirty="0" err="1"/>
              <a:t>agri</a:t>
            </a:r>
            <a:r>
              <a:rPr lang="en-US" sz="2000" dirty="0"/>
              <a:t>-food supply chains with circular economy in developing economies," Elsevier, 2025</a:t>
            </a:r>
            <a:r>
              <a:rPr lang="en-US" sz="2000" dirty="0" smtClean="0"/>
              <a:t>.</a:t>
            </a:r>
          </a:p>
          <a:p>
            <a:pPr marL="457200" indent="-457200">
              <a:buAutoNum type="arabicPeriod" startAt="4"/>
            </a:pPr>
            <a:endParaRPr lang="en-IN" sz="2000" dirty="0"/>
          </a:p>
          <a:p>
            <a:pPr marL="457200" indent="-457200"/>
            <a:r>
              <a:rPr lang="en-US" sz="2000" dirty="0" smtClean="0"/>
              <a:t>5.     S. </a:t>
            </a:r>
            <a:r>
              <a:rPr lang="en-US" sz="2000" dirty="0" err="1" smtClean="0"/>
              <a:t>Jadhav</a:t>
            </a:r>
            <a:r>
              <a:rPr lang="en-US" sz="2000" dirty="0" smtClean="0"/>
              <a:t> and S. </a:t>
            </a:r>
            <a:r>
              <a:rPr lang="en-US" sz="2000" dirty="0" err="1" smtClean="0"/>
              <a:t>Patil</a:t>
            </a:r>
            <a:r>
              <a:rPr lang="en-US" sz="2000" dirty="0" smtClean="0"/>
              <a:t> et al., "Review of sustainable temporary housing and reuse strategy for post-disaster architectures: current trends and strategic gaps," Elsevier, 2025.</a:t>
            </a:r>
            <a:endParaRPr lang="en-IN" sz="2000" dirty="0" smtClean="0"/>
          </a:p>
          <a:p>
            <a:pPr marL="457200" indent="-457200">
              <a:lnSpc>
                <a:spcPts val="2455"/>
              </a:lnSpc>
              <a:spcBef>
                <a:spcPts val="125"/>
              </a:spcBef>
              <a:buFontTx/>
              <a:buAutoNum type="arabicPeriod"/>
              <a:tabLst>
                <a:tab pos="457200" algn="l"/>
                <a:tab pos="470534" algn="l"/>
              </a:tabLst>
            </a:pPr>
            <a:endParaRPr lang="en-IN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>
              <a:lnSpc>
                <a:spcPts val="2455"/>
              </a:lnSpc>
              <a:spcBef>
                <a:spcPts val="125"/>
              </a:spcBef>
              <a:tabLst>
                <a:tab pos="457200" algn="l"/>
                <a:tab pos="470534" algn="l"/>
              </a:tabLst>
            </a:pPr>
            <a:endParaRPr lang="en-IN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457200" indent="-457200">
              <a:lnSpc>
                <a:spcPts val="2455"/>
              </a:lnSpc>
              <a:spcBef>
                <a:spcPts val="125"/>
              </a:spcBef>
              <a:buAutoNum type="arabicPeriod"/>
              <a:tabLst>
                <a:tab pos="457200" algn="l"/>
                <a:tab pos="470534" algn="l"/>
              </a:tabLst>
            </a:pPr>
            <a:endParaRPr lang="en-IN" sz="2150" dirty="0">
              <a:latin typeface="Times New Roman"/>
              <a:cs typeface="Times New Roman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4400" y="6468488"/>
            <a:ext cx="973343" cy="2718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spc="5" dirty="0" smtClean="0"/>
              <a:t>05|12</a:t>
            </a:r>
            <a:r>
              <a:rPr lang="en-IN" sz="1200" spc="5" dirty="0"/>
              <a:t>|</a:t>
            </a:r>
            <a:r>
              <a:rPr lang="en-IN" sz="1200" spc="5" dirty="0" smtClean="0"/>
              <a:t>2025</a:t>
            </a:r>
            <a:endParaRPr lang="en-IN" sz="1200" spc="5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       REFERENCES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575" y="1336357"/>
            <a:ext cx="10356850" cy="4893647"/>
          </a:xfrm>
        </p:spPr>
        <p:txBody>
          <a:bodyPr/>
          <a:lstStyle/>
          <a:p>
            <a:pPr marL="457200" indent="-457200" algn="l">
              <a:buAutoNum type="arabicPeriod" startAt="6"/>
            </a:pPr>
            <a:r>
              <a:rPr lang="en-US" sz="2000" dirty="0" smtClean="0"/>
              <a:t>T</a:t>
            </a:r>
            <a:r>
              <a:rPr lang="en-US" sz="2000" dirty="0"/>
              <a:t>. </a:t>
            </a:r>
            <a:r>
              <a:rPr lang="en-US" sz="2000" dirty="0" err="1"/>
              <a:t>Patil</a:t>
            </a:r>
            <a:r>
              <a:rPr lang="en-US" sz="2000" dirty="0"/>
              <a:t>, A. </a:t>
            </a:r>
            <a:r>
              <a:rPr lang="en-US" sz="2000" dirty="0" err="1"/>
              <a:t>Pawar</a:t>
            </a:r>
            <a:r>
              <a:rPr lang="en-US" sz="2000" dirty="0"/>
              <a:t>, and S. </a:t>
            </a:r>
            <a:r>
              <a:rPr lang="en-US" sz="2000" dirty="0" err="1"/>
              <a:t>Kamble</a:t>
            </a:r>
            <a:r>
              <a:rPr lang="en-US" sz="2000" dirty="0"/>
              <a:t> et al., "A review on advances towards achieving a net-zero carbon footprint through sustainable </a:t>
            </a:r>
            <a:r>
              <a:rPr lang="en-US" sz="2000" dirty="0" err="1"/>
              <a:t>agrivoltaic</a:t>
            </a:r>
            <a:r>
              <a:rPr lang="en-US" sz="2000" dirty="0"/>
              <a:t> technology," Elsevier, 2025</a:t>
            </a:r>
            <a:r>
              <a:rPr lang="en-US" sz="2000" dirty="0" smtClean="0"/>
              <a:t>.</a:t>
            </a:r>
          </a:p>
          <a:p>
            <a:pPr marL="457200" indent="-457200" algn="l">
              <a:buAutoNum type="arabicPeriod" startAt="6"/>
            </a:pPr>
            <a:endParaRPr lang="en-IN" sz="2000" dirty="0"/>
          </a:p>
          <a:p>
            <a:pPr marL="457200" indent="-457200" algn="l">
              <a:buAutoNum type="arabicPeriod" startAt="7"/>
            </a:pPr>
            <a:r>
              <a:rPr lang="en-US" sz="2000" dirty="0" smtClean="0"/>
              <a:t>A</a:t>
            </a:r>
            <a:r>
              <a:rPr lang="en-US" sz="2000" dirty="0"/>
              <a:t>. </a:t>
            </a:r>
            <a:r>
              <a:rPr lang="en-US" sz="2000" dirty="0" err="1"/>
              <a:t>Kulkarni</a:t>
            </a:r>
            <a:r>
              <a:rPr lang="en-US" sz="2000" dirty="0"/>
              <a:t> and K. Ramesh, "Sustainable resource usage for energy-efficient concrete manufacturing," Elsevier, 2025</a:t>
            </a:r>
            <a:r>
              <a:rPr lang="en-US" sz="2000" dirty="0" smtClean="0"/>
              <a:t>.</a:t>
            </a:r>
          </a:p>
          <a:p>
            <a:pPr marL="457200" indent="-457200" algn="l">
              <a:buAutoNum type="arabicPeriod" startAt="7"/>
            </a:pPr>
            <a:endParaRPr lang="en-IN" sz="2000" dirty="0"/>
          </a:p>
          <a:p>
            <a:pPr marL="457200" indent="-457200" algn="l">
              <a:buAutoNum type="arabicPeriod" startAt="8"/>
            </a:pPr>
            <a:r>
              <a:rPr lang="en-US" sz="2000" dirty="0" smtClean="0"/>
              <a:t>P</a:t>
            </a:r>
            <a:r>
              <a:rPr lang="en-US" sz="2000" dirty="0"/>
              <a:t>. S. and V. Sharma, "</a:t>
            </a:r>
            <a:r>
              <a:rPr lang="en-US" sz="2000" dirty="0" err="1"/>
              <a:t>Upcycling</a:t>
            </a:r>
            <a:r>
              <a:rPr lang="en-US" sz="2000" dirty="0"/>
              <a:t> of construction and demolition waste: Recovery and reuse of binder and fine aggregate in cement applications to achieve a circular economy," Elsevier, 2025</a:t>
            </a:r>
            <a:r>
              <a:rPr lang="en-US" sz="2000" dirty="0" smtClean="0"/>
              <a:t>.</a:t>
            </a:r>
          </a:p>
          <a:p>
            <a:pPr marL="457200" indent="-457200" algn="l">
              <a:buAutoNum type="arabicPeriod" startAt="8"/>
            </a:pPr>
            <a:endParaRPr lang="en-IN" sz="2000" dirty="0"/>
          </a:p>
          <a:p>
            <a:pPr marL="457200" indent="-457200" algn="l">
              <a:buAutoNum type="arabicPeriod" startAt="9"/>
            </a:pPr>
            <a:r>
              <a:rPr lang="en-US" sz="2000" dirty="0" smtClean="0"/>
              <a:t>A</a:t>
            </a:r>
            <a:r>
              <a:rPr lang="en-US" sz="2000" dirty="0"/>
              <a:t>. </a:t>
            </a:r>
            <a:r>
              <a:rPr lang="en-US" sz="2000" dirty="0" err="1"/>
              <a:t>Verma</a:t>
            </a:r>
            <a:r>
              <a:rPr lang="en-US" sz="2000" dirty="0"/>
              <a:t> and R. Singh, "Fashion and textile waste management in the circular economy: A systematic review," Elsevier, 2025</a:t>
            </a:r>
            <a:r>
              <a:rPr lang="en-US" sz="2000" dirty="0" smtClean="0"/>
              <a:t>.</a:t>
            </a:r>
          </a:p>
          <a:p>
            <a:pPr marL="457200" indent="-457200" algn="l">
              <a:buAutoNum type="arabicPeriod" startAt="9"/>
            </a:pPr>
            <a:endParaRPr lang="en-IN" sz="2000" dirty="0"/>
          </a:p>
          <a:p>
            <a:pPr marL="457200" indent="-457200" algn="l"/>
            <a:r>
              <a:rPr lang="en-US" sz="2000" dirty="0" smtClean="0"/>
              <a:t>10.   </a:t>
            </a:r>
            <a:r>
              <a:rPr lang="en-US" sz="2000" dirty="0"/>
              <a:t>N. </a:t>
            </a:r>
            <a:r>
              <a:rPr lang="en-US" sz="2000" dirty="0" err="1"/>
              <a:t>Bansal</a:t>
            </a:r>
            <a:r>
              <a:rPr lang="en-US" sz="2000" dirty="0"/>
              <a:t> and R. Patel, "Factors and future scenarios for green transition in circular waste management business model development," Elsevier, 2025.</a:t>
            </a:r>
            <a:endParaRPr lang="en-IN" sz="2000" dirty="0"/>
          </a:p>
          <a:p>
            <a:pPr marL="457200" indent="-457200"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925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529843"/>
            <a:ext cx="6946899" cy="1354217"/>
          </a:xfrm>
        </p:spPr>
        <p:txBody>
          <a:bodyPr/>
          <a:lstStyle/>
          <a:p>
            <a:r>
              <a:rPr lang="en-IN" dirty="0" smtClean="0"/>
              <a:t>ACKNOWLEDGEMENTS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575" y="1336357"/>
            <a:ext cx="10356850" cy="3508653"/>
          </a:xfrm>
        </p:spPr>
        <p:txBody>
          <a:bodyPr/>
          <a:lstStyle/>
          <a:p>
            <a:endParaRPr lang="en-US" dirty="0" smtClean="0"/>
          </a:p>
          <a:p>
            <a:endParaRPr lang="en-US" sz="2400" dirty="0" smtClean="0"/>
          </a:p>
          <a:p>
            <a:r>
              <a:rPr lang="en-US" sz="2400" dirty="0" smtClean="0"/>
              <a:t>We </a:t>
            </a:r>
            <a:r>
              <a:rPr lang="en-US" sz="2400" dirty="0"/>
              <a:t>gratefully acknowledge</a:t>
            </a:r>
            <a:br>
              <a:rPr lang="en-US" sz="2400" dirty="0"/>
            </a:br>
            <a:r>
              <a:rPr lang="en-US" sz="2400" b="1" dirty="0"/>
              <a:t>Department of Computer Science and Engineering, Narasaraopeta Engineering College, Guntur, India</a:t>
            </a:r>
            <a:r>
              <a:rPr lang="en-US" sz="2400" dirty="0"/>
              <a:t>,</a:t>
            </a:r>
            <a:br>
              <a:rPr lang="en-US" sz="2400" dirty="0"/>
            </a:br>
            <a:r>
              <a:rPr lang="en-US" sz="2400" dirty="0"/>
              <a:t>for providing the facilities, mentorship, and support to carry out this research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sz="2400" dirty="0"/>
              <a:t>Special thanks to</a:t>
            </a:r>
            <a:br>
              <a:rPr lang="en-US" sz="2400" dirty="0"/>
            </a:br>
            <a:r>
              <a:rPr lang="en-US" sz="2400" b="1" dirty="0"/>
              <a:t>Dr. </a:t>
            </a:r>
            <a:r>
              <a:rPr lang="en-US" sz="2400" b="1" dirty="0" smtClean="0"/>
              <a:t>S.N.Tirumala </a:t>
            </a:r>
            <a:r>
              <a:rPr lang="en-US" sz="2400" b="1" dirty="0" err="1" smtClean="0"/>
              <a:t>Rao</a:t>
            </a:r>
            <a:r>
              <a:rPr lang="en-US" sz="2400" dirty="0" smtClean="0"/>
              <a:t> </a:t>
            </a:r>
            <a:r>
              <a:rPr lang="en-US" sz="2400" dirty="0"/>
              <a:t>and </a:t>
            </a:r>
            <a:r>
              <a:rPr lang="en-US" sz="2400" b="1" dirty="0"/>
              <a:t>Mr. </a:t>
            </a:r>
            <a:r>
              <a:rPr lang="en-US" sz="2400" b="1" dirty="0" err="1"/>
              <a:t>Dodda</a:t>
            </a:r>
            <a:r>
              <a:rPr lang="en-US" sz="2400" b="1" dirty="0"/>
              <a:t> </a:t>
            </a:r>
            <a:r>
              <a:rPr lang="en-US" sz="2400" b="1" dirty="0" err="1"/>
              <a:t>Venkata</a:t>
            </a:r>
            <a:r>
              <a:rPr lang="en-US" sz="2400" b="1" dirty="0"/>
              <a:t> Reddy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for their valuable guidance and continuous encouragement.</a:t>
            </a:r>
            <a:endParaRPr lang="en-IN" sz="240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 smtClean="0"/>
              <a:t>05-12-2025</a:t>
            </a:r>
            <a:endParaRPr spc="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4114800" y="6451049"/>
            <a:ext cx="106972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02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6971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CB7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499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5" dirty="0"/>
              <a:t>0</a:t>
            </a:r>
            <a:r>
              <a:rPr spc="5" dirty="0"/>
              <a:t>2</a:t>
            </a:r>
            <a:r>
              <a:rPr lang="en-IN" spc="5" dirty="0"/>
              <a:t>-0</a:t>
            </a:r>
            <a:r>
              <a:rPr spc="5" dirty="0"/>
              <a:t>4-202</a:t>
            </a:r>
            <a:r>
              <a:rPr lang="en-IN" spc="5" dirty="0"/>
              <a:t>4</a:t>
            </a:r>
            <a:endParaRPr spc="5" dirty="0"/>
          </a:p>
        </p:txBody>
      </p:sp>
      <p:sp>
        <p:nvSpPr>
          <p:cNvPr id="5" name="object 5"/>
          <p:cNvSpPr txBox="1"/>
          <p:nvPr/>
        </p:nvSpPr>
        <p:spPr>
          <a:xfrm>
            <a:off x="4426330" y="6451049"/>
            <a:ext cx="106600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45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03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2331" y="6451049"/>
            <a:ext cx="106600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Batch</a:t>
            </a:r>
            <a:r>
              <a:rPr sz="1200" spc="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5" dirty="0">
                <a:solidFill>
                  <a:srgbClr val="888888"/>
                </a:solidFill>
                <a:latin typeface="Times New Roman"/>
                <a:cs typeface="Times New Roman"/>
              </a:rPr>
              <a:t>AB9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35" dirty="0"/>
              <a:t>Department</a:t>
            </a:r>
            <a:r>
              <a:rPr spc="29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5" dirty="0"/>
              <a:t>CSE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pic>
        <p:nvPicPr>
          <p:cNvPr id="9" name="Content Placeholder 1">
            <a:extLst>
              <a:ext uri="{FF2B5EF4-FFF2-40B4-BE49-F238E27FC236}">
                <a16:creationId xmlns="" xmlns:a16="http://schemas.microsoft.com/office/drawing/2014/main" id="{41706558-8090-A4A6-08CA-B0EFAA70C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639" y="1046480"/>
            <a:ext cx="8655341" cy="4592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34950</TotalTime>
  <Words>2448</Words>
  <Application>Microsoft Office PowerPoint</Application>
  <PresentationFormat>Custom</PresentationFormat>
  <Paragraphs>542</Paragraphs>
  <Slides>27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 SmartWasteNet: A Deep Learning Framework to Transition from Take-Make-Waste to Rethink-Redesign-Reuse for Circular Economy under SDG 12    </vt:lpstr>
      <vt:lpstr>CONTENTS</vt:lpstr>
      <vt:lpstr>ABSTRACT</vt:lpstr>
      <vt:lpstr>INTRODUCTION</vt:lpstr>
      <vt:lpstr>PROBLEM STATEMENT</vt:lpstr>
      <vt:lpstr>LITERATURE SURVEY </vt:lpstr>
      <vt:lpstr>LITERATURE SURVEY</vt:lpstr>
      <vt:lpstr>RESEARCH GAPS</vt:lpstr>
      <vt:lpstr>OBJECTIVES</vt:lpstr>
      <vt:lpstr>METHODOLOGY</vt:lpstr>
      <vt:lpstr>FLOW DIAGRAM</vt:lpstr>
      <vt:lpstr>Implementation</vt:lpstr>
      <vt:lpstr>IMPLEMENTATION</vt:lpstr>
      <vt:lpstr>IMPLEMENTATION</vt:lpstr>
      <vt:lpstr>IMPLEMENTATION</vt:lpstr>
      <vt:lpstr>IMPLEMENTATION</vt:lpstr>
      <vt:lpstr>PowerPoint Presentation</vt:lpstr>
      <vt:lpstr>PowerPoint Presentation</vt:lpstr>
      <vt:lpstr>Results and Analysis</vt:lpstr>
      <vt:lpstr>Results and Analysis</vt:lpstr>
      <vt:lpstr>Results &amp; Analysis</vt:lpstr>
      <vt:lpstr>                Conclusion </vt:lpstr>
      <vt:lpstr>         Future Scope</vt:lpstr>
      <vt:lpstr>REFERENCES</vt:lpstr>
      <vt:lpstr>         REFERENCES</vt:lpstr>
      <vt:lpstr>ACKNOWLEDGEMENTS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</dc:title>
  <dc:creator>LakshmiDurgamma Amarthaluri</dc:creator>
  <cp:lastModifiedBy>HP PC</cp:lastModifiedBy>
  <cp:revision>98</cp:revision>
  <dcterms:created xsi:type="dcterms:W3CDTF">2024-03-31T16:53:22Z</dcterms:created>
  <dcterms:modified xsi:type="dcterms:W3CDTF">2026-02-02T15:50:42Z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2023-12-24T00:00:00Z</vt:filetime>
  </property>
  <property fmtid="{D5CDD505-2E9C-101B-9397-08002B2CF9AE}" pid="3" name="LastSaved">
    <vt:filetime>2024-03-31T00:00:00Z</vt:filetime>
  </property>
</Properties>
</file>